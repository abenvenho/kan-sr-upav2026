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5"/>
    <p:sldId id="258" r:id="rId4"/>
    <p:sldId id="259" r:id="rId3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Equações candidatas</c:v>
                </c:pt>
              </c:strCache>
            </c:strRef>
          </c:tx>
          <c:spPr>
            <a:ln w="25400">
              <a:solidFill>
                <a:srgbClr val="0B3658"/>
              </a:solidFill>
            </a:ln>
          </c:spPr>
          <c:marker>
            <c:symbol val="circle"/>
            <c:size val="7"/>
            <c:spPr>
              <a:solidFill>
                <a:srgbClr val="0B3658"/>
              </a:solidFill>
              <a:ln w="12700">
                <a:solidFill>
                  <a:srgbClr val="FFFFFF"/>
                </a:solidFill>
              </a:ln>
            </c:spPr>
          </c:marker>
          <c:xVal>
            <c:numRef>
              <c:f>Sheet1!$A$2:$A$19</c:f>
              <c:numCache>
                <c:formatCode>General</c:formatCode>
                <c:ptCount val="1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0.0</c:v>
                </c:pt>
                <c:pt idx="1">
                  <c:v>51.86</c:v>
                </c:pt>
                <c:pt idx="2">
                  <c:v>59.1</c:v>
                </c:pt>
                <c:pt idx="3">
                  <c:v>61.73</c:v>
                </c:pt>
                <c:pt idx="4">
                  <c:v>66.26</c:v>
                </c:pt>
                <c:pt idx="5">
                  <c:v>70.01</c:v>
                </c:pt>
                <c:pt idx="6">
                  <c:v>72.65</c:v>
                </c:pt>
                <c:pt idx="7">
                  <c:v>76.69</c:v>
                </c:pt>
                <c:pt idx="8">
                  <c:v>84.88</c:v>
                </c:pt>
                <c:pt idx="9">
                  <c:v>86.94</c:v>
                </c:pt>
                <c:pt idx="10">
                  <c:v>87.08</c:v>
                </c:pt>
                <c:pt idx="11">
                  <c:v>87.94</c:v>
                </c:pt>
                <c:pt idx="12">
                  <c:v>87.94</c:v>
                </c:pt>
                <c:pt idx="13">
                  <c:v>89.11</c:v>
                </c:pt>
                <c:pt idx="14">
                  <c:v>89.98</c:v>
                </c:pt>
                <c:pt idx="15">
                  <c:v>90.17</c:v>
                </c:pt>
                <c:pt idx="16">
                  <c:v>90.42</c:v>
                </c:pt>
                <c:pt idx="17">
                  <c:v>90.74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Sheet1!$B$21</c:f>
              <c:strCache>
                <c:ptCount val="1"/>
                <c:pt idx="0">
                  <c:v>Equação escolhida (complexidade 19)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5"/>
            <c:spPr>
              <a:solidFill>
                <a:srgbClr val="F0A81C"/>
              </a:solidFill>
              <a:ln w="12700">
                <a:solidFill>
                  <a:srgbClr val="FFFFFF"/>
                </a:solidFill>
              </a:ln>
            </c:spPr>
          </c:marker>
          <c:xVal>
            <c:numRef>
              <c:f>Sheet1!$A$22:$A$22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Sheet1!$B$22:$B$22</c:f>
              <c:numCache>
                <c:formatCode>General</c:formatCode>
                <c:ptCount val="1"/>
                <c:pt idx="0">
                  <c:v>90.42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1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5"/>
                    </a:solidFill>
                    <a:latin typeface="Calibri"/>
                  </a:rPr>
                  <a:t>complexidade da expressão (nº de operadores, variáveis e constantes)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>
            <a:solidFill>
              <a:srgbClr val="CBD4DE"/>
            </a:solidFill>
          </a:ln>
        </c:spPr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3.0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 w="9525"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5"/>
                    </a:solidFill>
                    <a:latin typeface="Calibri"/>
                  </a:rPr>
                  <a:t>fidelidade à KAN (R², em 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>
            <a:solidFill>
              <a:srgbClr val="CBD4DE"/>
            </a:solidFill>
          </a:ln>
        </c:spPr>
        <c:txPr>
          <a:bodyPr/>
          <a:lstStyle/>
          <a:p>
            <a:pPr>
              <a:defRPr sz="1200" b="0">
                <a:solidFill>
                  <a:srgbClr val="5B6775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A9B4C0"/>
            </a:solidFill>
          </c:spPr>
          <c:dPt>
            <c:idx val="0"/>
            <c:spPr>
              <a:solidFill>
                <a:srgbClr val="A9B4C0"/>
              </a:solidFill>
              <a:ln>
                <a:noFill/>
              </a:ln>
            </c:spPr>
          </c:dPt>
          <c:dPt>
            <c:idx val="1"/>
            <c:spPr>
              <a:solidFill>
                <a:srgbClr val="A9B4C0"/>
              </a:solidFill>
              <a:ln>
                <a:noFill/>
              </a:ln>
            </c:spPr>
          </c:dPt>
          <c:dPt>
            <c:idx val="2"/>
            <c:spPr>
              <a:solidFill>
                <a:srgbClr val="A9B4C0"/>
              </a:solidFill>
              <a:ln>
                <a:noFill/>
              </a:ln>
            </c:spPr>
          </c:dPt>
          <c:dPt>
            <c:idx val="3"/>
            <c:spPr>
              <a:solidFill>
                <a:srgbClr val="6F8296"/>
              </a:solidFill>
              <a:ln>
                <a:noFill/>
              </a:ln>
            </c:spPr>
          </c:dPt>
          <c:dPt>
            <c:idx val="4"/>
            <c:spPr>
              <a:solidFill>
                <a:srgbClr val="F0A81C"/>
              </a:solidFill>
              <a:ln>
                <a:noFill/>
              </a:ln>
            </c:spPr>
          </c:dPt>
          <c:dPt>
            <c:idx val="5"/>
            <c:spPr>
              <a:solidFill>
                <a:srgbClr val="0B365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F2A37"/>
                        </a:solidFill>
                        <a:latin typeface="Calibri"/>
                      </a:rPr>
                      <a:t>0,600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F2A37"/>
                        </a:solidFill>
                        <a:latin typeface="Calibri"/>
                      </a:rPr>
                      <a:t>0,608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F2A37"/>
                        </a:solidFill>
                        <a:latin typeface="Calibri"/>
                      </a:rPr>
                      <a:t>0,638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F2A37"/>
                        </a:solidFill>
                        <a:latin typeface="Calibri"/>
                      </a:rPr>
                      <a:t>0,661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F2A37"/>
                        </a:solidFill>
                        <a:latin typeface="Calibri"/>
                      </a:rPr>
                      <a:t>0,665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F2A37"/>
                        </a:solidFill>
                        <a:latin typeface="Calibri"/>
                      </a:rPr>
                      <a:t>0,716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MLP 2 camadas · 625 parâmetros</c:v>
                </c:pt>
                <c:pt idx="1">
                  <c:v>SR isolada · complexidade ≈ 90</c:v>
                </c:pt>
                <c:pt idx="2">
                  <c:v>MLP 1 camada · 337 parâmetros</c:v>
                </c:pt>
                <c:pt idx="3">
                  <c:v>OLS Box–Cox · 11 coeficientes</c:v>
                </c:pt>
                <c:pt idx="4">
                  <c:v>KAN+SR · complexidade 19</c:v>
                </c:pt>
                <c:pt idx="5">
                  <c:v>KAN · ≈ 1.014 parâmetros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0.608</c:v>
                </c:pt>
                <c:pt idx="2">
                  <c:v>0.638</c:v>
                </c:pt>
                <c:pt idx="3">
                  <c:v>0.661</c:v>
                </c:pt>
                <c:pt idx="4">
                  <c:v>0.665</c:v>
                </c:pt>
                <c:pt idx="5">
                  <c:v>0.716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CBD4DE"/>
            </a:solidFill>
          </a:ln>
        </c:spPr>
        <c:txPr>
          <a:bodyPr/>
          <a:lstStyle/>
          <a:p>
            <a:pPr>
              <a:defRPr sz="1350" b="0">
                <a:solidFill>
                  <a:srgbClr val="1F2A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A9B4C0"/>
            </a:solidFill>
          </c:spPr>
          <c:dPt>
            <c:idx val="0"/>
            <c:spPr>
              <a:solidFill>
                <a:srgbClr val="A9B4C0"/>
              </a:solidFill>
              <a:ln>
                <a:noFill/>
              </a:ln>
            </c:spPr>
          </c:dPt>
          <c:dPt>
            <c:idx val="1"/>
            <c:spPr>
              <a:solidFill>
                <a:srgbClr val="A9B4C0"/>
              </a:solidFill>
              <a:ln>
                <a:noFill/>
              </a:ln>
            </c:spPr>
          </c:dPt>
          <c:dPt>
            <c:idx val="2"/>
            <c:spPr>
              <a:solidFill>
                <a:srgbClr val="BB1F2C"/>
              </a:solidFill>
              <a:ln>
                <a:noFill/>
              </a:ln>
            </c:spPr>
          </c:dPt>
          <c:dPt>
            <c:idx val="3"/>
            <c:spPr>
              <a:solidFill>
                <a:srgbClr val="A9B4C0"/>
              </a:solidFill>
              <a:ln>
                <a:noFill/>
              </a:ln>
            </c:spPr>
          </c:dPt>
          <c:dPt>
            <c:idx val="4"/>
            <c:spPr>
              <a:solidFill>
                <a:srgbClr val="A9B4C0"/>
              </a:solidFill>
              <a:ln>
                <a:noFill/>
              </a:ln>
            </c:spPr>
          </c:dPt>
          <c:dPt>
            <c:idx val="5"/>
            <c:spPr>
              <a:solidFill>
                <a:srgbClr val="A9B4C0"/>
              </a:solidFill>
              <a:ln>
                <a:noFill/>
              </a:ln>
            </c:spPr>
          </c:dPt>
          <c:dPt>
            <c:idx val="6"/>
            <c:spPr>
              <a:solidFill>
                <a:srgbClr val="A9B4C0"/>
              </a:solidFill>
              <a:ln>
                <a:noFill/>
              </a:ln>
            </c:spPr>
          </c:dPt>
          <c:dPt>
            <c:idx val="7"/>
            <c:spPr>
              <a:solidFill>
                <a:srgbClr val="A9B4C0"/>
              </a:solidFill>
              <a:ln>
                <a:noFill/>
              </a:ln>
            </c:spPr>
          </c:dPt>
          <c:dPt>
            <c:idx val="8"/>
            <c:spPr>
              <a:solidFill>
                <a:srgbClr val="0B3658"/>
              </a:solidFill>
              <a:ln>
                <a:noFill/>
              </a:ln>
            </c:spPr>
          </c:dPt>
          <c:dPt>
            <c:idx val="9"/>
            <c:spPr>
              <a:solidFill>
                <a:srgbClr val="0B3658"/>
              </a:solidFill>
              <a:ln>
                <a:noFill/>
              </a:ln>
            </c:spPr>
          </c:dPt>
          <c:dPt>
            <c:idx val="10"/>
            <c:spPr>
              <a:solidFill>
                <a:srgbClr val="0B3658"/>
              </a:solidFill>
              <a:ln>
                <a:noFill/>
              </a:ln>
            </c:spPr>
          </c:dPt>
          <c:dPt>
            <c:idx val="11"/>
            <c:spPr>
              <a:solidFill>
                <a:srgbClr val="0B365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0,100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0,125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0,125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0,153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0,162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0,163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0,205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0,226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0,321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0,347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0,438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2A37"/>
                        </a:solidFill>
                        <a:latin typeface="Calibri"/>
                      </a:rPr>
                      <a:t>1,090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Área construída</c:v>
                </c:pt>
                <c:pt idx="1">
                  <c:v>Tempo (meses)</c:v>
                </c:pt>
                <c:pt idx="2">
                  <c:v>CEP normalizado (localização)</c:v>
                </c:pt>
                <c:pt idx="3">
                  <c:v>Nº de pavimentos</c:v>
                </c:pt>
                <c:pt idx="4">
                  <c:v>Proporção financiada</c:v>
                </c:pt>
                <c:pt idx="5">
                  <c:v>Indício de subdeclaração</c:v>
                </c:pt>
                <c:pt idx="6">
                  <c:v>Financiamento (sim/não)</c:v>
                </c:pt>
                <c:pt idx="7">
                  <c:v>Área do terreno</c:v>
                </c:pt>
                <c:pt idx="8">
                  <c:v>Valor do m² de construção (IPTU)</c:v>
                </c:pt>
                <c:pt idx="9">
                  <c:v>Padrão construtivo</c:v>
                </c:pt>
                <c:pt idx="10">
                  <c:v>Fator de obsolescência</c:v>
                </c:pt>
                <c:pt idx="11">
                  <c:v>Valor do m² de terreno (IPTU)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</c:v>
                </c:pt>
                <c:pt idx="1">
                  <c:v>0.125</c:v>
                </c:pt>
                <c:pt idx="2">
                  <c:v>0.125</c:v>
                </c:pt>
                <c:pt idx="3">
                  <c:v>0.153</c:v>
                </c:pt>
                <c:pt idx="4">
                  <c:v>0.162</c:v>
                </c:pt>
                <c:pt idx="5">
                  <c:v>0.163</c:v>
                </c:pt>
                <c:pt idx="6">
                  <c:v>0.205</c:v>
                </c:pt>
                <c:pt idx="7">
                  <c:v>0.226</c:v>
                </c:pt>
                <c:pt idx="8">
                  <c:v>0.321</c:v>
                </c:pt>
                <c:pt idx="9">
                  <c:v>0.347</c:v>
                </c:pt>
                <c:pt idx="10">
                  <c:v>0.438</c:v>
                </c:pt>
                <c:pt idx="11">
                  <c:v>1.09</c:v>
                </c:pt>
              </c:numCache>
            </c:numRef>
          </c:val>
        </c:ser>
        <c:gapWidth val="3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12700">
            <a:solidFill>
              <a:srgbClr val="CBD4DE"/>
            </a:solidFill>
          </a:ln>
        </c:spPr>
        <c:txPr>
          <a:bodyPr/>
          <a:lstStyle/>
          <a:p>
            <a:pPr>
              <a:defRPr sz="1300" b="0">
                <a:solidFill>
                  <a:srgbClr val="1F2A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3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3F7F7-9B64-4955-9C49-680C81B35A8E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Y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65AB5-4710-4FBA-9404-7BB1B2E6687A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75466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~0:20</a:t>
            </a:r>
          </a:p>
          <a:p/>
          <a:p>
            <a:r>
              <a:t>Boas-vindas e uma frase de posicionamento: este trabalho mostra como transformar uma rede neural — normalmente uma caixa-preta — em uma equação que qualquer avaliador consegue ler, criticar e defender.</a:t>
            </a:r>
          </a:p>
          <a:p/>
          <a:p>
            <a:r>
              <a:t>Gancho com o lema do congresso: “Valoración, inteligencia artificial y juicio profesional”. A tese cabe em três verbos, que vão reaparecer: a rede aprende, a equação explica, o avaliador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~1:00 (acumulado 1:20)</a:t>
            </a:r>
          </a:p>
          <a:p/>
          <a:p>
            <a:r>
              <a:t>Todo avaliador conhece este dilema. De um lado, a regressão linear: transparente, aceita nas normas, mas rígida — quem escolhe a forma da curva é o analista. De outro, as redes neurais: flexíveis, mas opacas.</a:t>
            </a:r>
          </a:p>
          <a:p/>
          <a:p>
            <a:r>
              <a:t>No gráfico, o canto superior direito — flexível E transparente — está vazio. A pergunta do estudo é se dá para ocupá-lo.</a:t>
            </a:r>
          </a:p>
          <a:p/>
          <a:p>
            <a:r>
              <a:t>Peça à plateia para guardar esta imagem: ela volta na conclusão.</a:t>
            </a:r>
          </a:p>
          <a:p/>
          <a:p>
            <a:r>
              <a:t>Transição: primeiro, por que a reta não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~0:45 (acumulado 2:05)</a:t>
            </a:r>
          </a:p>
          <a:p/>
          <a:p>
            <a:r>
              <a:t>Por que a reta não basta? Porque o mercado tem retornos decrescentes, saturação e interações entre atributos. A linha tracejada é o que o modelo linear enxerga; a linha cheia, o que o mercado faz. (Curvas esquemáticas.)</a:t>
            </a:r>
          </a:p>
          <a:p/>
          <a:p>
            <a:r>
              <a:t>No modelo linear, cada uma dessas formas tem de ser adivinhada antes do ajuste — log, Box–Cox, polinômio, interação especificada à mão. E as hipóteses clássicas raramente se sustentam em bases reais.</a:t>
            </a:r>
          </a:p>
          <a:p/>
          <a:p>
            <a:r>
              <a:t>Transição: a resposta usual do aprendizado de máquina é a rede neural. Ela resolve a curva… e cria outro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~0:50 (acumulado 2:55)</a:t>
            </a:r>
          </a:p>
          <a:p/>
          <a:p>
            <a:r>
              <a:t>A MLP resolve a curva, mas cria outro problema: centenas de pesos sem leitura econômica. Entra o imóvel, sai um valor por metro quadrado — e, quando alguém pergunta “por quê?”, não há resposta.</a:t>
            </a:r>
          </a:p>
          <a:p/>
          <a:p>
            <a:r>
              <a:t>Em laudo, perícia ou ambiente regulado, isso não serve. O IVSC, em 2025, define o AVM como cálculo automatizado sem julgamento profissional sobre o modelo; por essa definição, um AVM isolado não produz uma avaliação conforme os IVS. E Cynthia Rudin: em decisões de alto risco, use modelos interpretáveis em vez de tentar explicar caixas-pretas.</a:t>
            </a:r>
          </a:p>
          <a:p/>
          <a:p>
            <a:r>
              <a:t>Transição: então a proposta é fazer as duas coisas em sequência.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~1:10 (acumulado 4:05)</a:t>
            </a:r>
          </a:p>
          <a:p/>
          <a:p>
            <a:r>
              <a:t>A proposta cabe em três verbos: a rede aprende, a equação explica, o avaliador decide.</a:t>
            </a:r>
          </a:p>
          <a:p/>
          <a:p>
            <a:r>
              <a:t>A KAN é o estimador de alta capacidade: capta não linearidades e interações sem que eu imponha a forma. A regressão simbólica destila essa rede em uma expressão algébrica fechada. E o profissional inspeciona, critica e valida.</a:t>
            </a:r>
          </a:p>
          <a:p/>
          <a:p>
            <a:r>
              <a:t>Três perguntas guiam o experimento. Atenção à terceira: é deliberadamente de não inferioridade. Não prometo bater o modelo clássico; prometo igualá-lo com uma equação cuja forma ninguém precisou impor.</a:t>
            </a:r>
          </a:p>
          <a:p/>
          <a:p>
            <a:r>
              <a:t>Transição: duas peças pouco conhecidas na avaliação — KAN e regressão simbólica. Uma de cada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~1:30 (acumulado 5:35)</a:t>
            </a:r>
          </a:p>
          <a:p/>
          <a:p>
            <a:r>
              <a:t>KAN em uma ideia. Na MLP, à esquerda, as arestas são números — pesos — e a não linearidade fica nos nós, com uma função fixa, a ReLU. Na KAN, à direita, é o contrário: cada aresta é uma curva que a rede aprende — uma B-spline — e os nós apenas somam.</a:t>
            </a:r>
          </a:p>
          <a:p/>
          <a:p>
            <a:r>
              <a:t>A base é o teorema de Kolmogorov–Arnold, de 1957; a arquitetura de aprendizado profundo é de Liu e colaboradores, 2024.</a:t>
            </a:r>
          </a:p>
          <a:p/>
          <a:p>
            <a:r>
              <a:t>Para o avaliador isso é familiar: cada aresta pode ser lida como o efeito marginal de uma variável, como num modelo hedônico — só que sem que eu imponha a forma. Usamos 12 entradas, 6 nós ocultos, 78 curvas, cerca de mil parâmetros.</a:t>
            </a:r>
          </a:p>
          <a:p/>
          <a:p>
            <a:r>
              <a:t>Limite honesto: enquanto as curvas forem splines numéricas, ainda não tenho uma equação. É aí que entra a segunda peça.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~1:05 (acumulado 6:40)</a:t>
            </a:r>
          </a:p>
          <a:p/>
          <a:p>
            <a:r>
              <a:t>A regressão tradicional estima os coeficientes de uma forma que eu escolhi. A regressão simbólica procura a própria forma: quais operações, com quais variáveis, em que ordem.</a:t>
            </a:r>
          </a:p>
          <a:p/>
          <a:p>
            <a:r>
              <a:t>Cada equação candidata é uma árvore — operadores nos nós, variáveis e constantes nas folhas. Uma população dessas árvores evolui por mutação, recombinação e seleção: é programação genética, Koza, 1994. Usamos a biblioteca PySR.</a:t>
            </a:r>
          </a:p>
          <a:p/>
          <a:p>
            <a:r>
              <a:t>Dois critérios ao mesmo tempo: acertar e ser simples. Por isso o resultado não é uma equação, é uma fronteira de Pareto — e quem escolhe o ponto é o analista. Já aqui há juízo profissional.</a:t>
            </a:r>
          </a:p>
          <a:p/>
          <a:p>
            <a:r>
              <a:t>Transição: como ligar as duas peças?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~1:15 (acumulado 7:55)</a:t>
            </a:r>
          </a:p>
          <a:p/>
          <a:p>
            <a:r>
              <a:t>Como ligar a KAN à regressão simbólica? A primeira tentativa foi a intuitiva — e falhou. Ajustamos uma fórmula a cada perfil marginal da KAN, um por variável, e somamos as doze parcelas. A maioria das curvas ficou ótima, com R² acima de 0,95; mas o modelo recomposto caiu para 0,095. Por quê? Porque as camadas ocultas criam interações entre variáveis, e funções marginais isoladas não as recuperam.</a:t>
            </a:r>
          </a:p>
          <a:p/>
          <a:p>
            <a:r>
              <a:t>A segunda estratégia funcionou: a regressão simbólica aprende diretamente as predições da KAN, em função das variáveis originais. Fidelidade de 0,900 no teste.</a:t>
            </a:r>
          </a:p>
          <a:p/>
          <a:p>
            <a:r>
              <a:t>À direita, a fronteira real do experimento: 18 equações candidatas, da constante (complexidade 1) à expressão de complexidade 20, o tamanho máximo permitido. Adotamos a de complexidade 19, como compromisso entre acurácia e parcimônia.</a:t>
            </a:r>
          </a:p>
          <a:p/>
          <a:p>
            <a:r>
              <a:t>Se perguntarem “por que não a de complexidade 12, já no platô?”: no teste ela tem R² de 0,625, contra 0,665 da escolhida — e o artigo declara que o desempenho no teste participou dessa escolha (é uma das limitações).</a:t>
            </a:r>
          </a:p>
          <a:p/>
          <a:p>
            <a:r>
              <a:t>(Dados do gráfico: arquivo hall_of_fame do PySR; fidelidade calculada no treino.)</a:t>
            </a:r>
          </a:p>
          <a:p/>
          <a:p>
            <a:r>
              <a:t>Transição: com o método montado, vamos aos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~1:10 (acumulado 9:05)</a:t>
            </a:r>
          </a:p>
          <a:p/>
          <a:p>
            <a:r>
              <a:t>Dados reais e públicos. Partimos de 132 mil transações de ITBI da Prefeitura de São Paulo, cruzadas com o cadastro do IPTU de 2021 e 2022 — 78% de correspondência — e extraímos uma amostra estratificada de 15 mil apartamentos. Partição 70/15/15, semente fixa.</a:t>
            </a:r>
          </a:p>
          <a:p/>
          <a:p>
            <a:r>
              <a:t>Variável-alvo: logaritmo do valor por metro quadrado. Doze variáveis: fiscais, físicas, localização, tempo e três da própria transação.</a:t>
            </a:r>
          </a:p>
          <a:p/>
          <a:p>
            <a:r>
              <a:t>Um cuidado: o ITBI é valor declarado, sujeito a subdeclaração. Por isso entram o indício de subdeclaração e o financiamento — transação financiada tende a declarar valor mais próximo do real, porque o banco avalia o imóvel.</a:t>
            </a:r>
          </a:p>
          <a:p/>
          <a:p>
            <a:r>
              <a:t>Mesmo protocolo para os seis modelos: mesma partição e semente; transformações ajustadas só no treino (MinMax nas redes e na regressão simbólica; λ de Box–Cox no OLS). A base está publicada no Kaggle: kaggle.com/datasets/agnaldocalvibenvenho/kan-e-regresso-simblica. Transição: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~1:10 (acumulado 10:15)</a:t>
            </a:r>
          </a:p>
          <a:p/>
          <a:p>
            <a:r>
              <a:t>Resultado um. No conjunto de teste — 2.250 imóveis que não entraram no treinamento — a KAN vence com R² de 0,716. E quase não perde do treino para o teste: 0,729 para 0,716. Ela generaliza. O MAPE, medido em reais por metro quadrado, é 16,7%.</a:t>
            </a:r>
          </a:p>
          <a:p/>
          <a:p>
            <a:r>
              <a:t>Em dourado, a equação destilada: 0,665 — segundo lugar, colada no OLS, 0,661. (Na KAN+SR o teste foi consultado na escolha da expressão; volto a isso nas limitações.)</a:t>
            </a:r>
          </a:p>
          <a:p/>
          <a:p>
            <a:r>
              <a:t>Cautela que está no artigo: o pelotão do meio está separado por milésimos a centésimos. Não tratem como ranking definitivo; isso pede repetição com múltiplas sementes e intervalos de confiança.</a:t>
            </a:r>
          </a:p>
          <a:p/>
          <a:p>
            <a:r>
              <a:t>Resposta à pergunta i: sim, a KAN supera o OLS e as MLP. Vamos olhar a comparação com as MLP de perto.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~0:50 (acumulado 11:05)</a:t>
            </a:r>
          </a:p>
          <a:p/>
          <a:p>
            <a:r>
              <a:t>Resultado dois: KAN contra MLP sob profundidade semelhante. 0,716 contra 0,638 — quase oito centésimos.</a:t>
            </a:r>
          </a:p>
          <a:p/>
          <a:p>
            <a:r>
              <a:t>E um detalhe revelador: a MLP de duas camadas, com quase o dobro de parâmetros, ficou ABAIXO da de uma camada. Mais capacidade não resolveu. Isso sugere que o ganho vem, em boa medida, da natureza das funções de aresta — as B-splines — e não só do tamanho da rede.</a:t>
            </a:r>
          </a:p>
          <a:p/>
          <a:p>
            <a:r>
              <a:t>Ressalva honesta, que está no artigo: a KAN tem cerca de mil parâmetros, a MLP 337 — três vezes menos; e as MLP podem ter sido menos exploradas. A diferença reflete, conjuntamente, a natureza das B-splines e a maior capacidade da rede. É um indício, não um teste controlado — esse teste está na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~0:50 (acumulado 11:55)</a:t>
            </a:r>
          </a:p>
          <a:p/>
          <a:p>
            <a:r>
              <a:t>Resultado três: a KAN, mesmo sem equação fechada, oferece interpretabilidade estrutural. Como cada aresta depende de uma única variável, dá para medir a amplitude do efeito marginal de cada uma — e ordenar.</a:t>
            </a:r>
          </a:p>
          <a:p/>
          <a:p>
            <a:r>
              <a:t>O valor do metro quadrado de terreno da planta genérica domina, de longe. Depois vêm obsolescência, padrão e valor do metro quadrado de construção.</a:t>
            </a:r>
          </a:p>
          <a:p/>
          <a:p>
            <a:r>
              <a:t>E o CEP aparece fraco. Isso é coerente com a limitação que assumimos: CEP é uma proxy pobre de localização — o caminho é substituir por coordenadas e acessibilidade.</a:t>
            </a:r>
          </a:p>
          <a:p/>
          <a:p>
            <a:r>
              <a:t>É uma leitura parecida com a dos coeficientes de um modelo hedônico. Transição: mas o avaliador quer mais do que um gráfico — quer a equação.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~1:30 (acumulado 13:25)</a:t>
            </a:r>
          </a:p>
          <a:p/>
          <a:p>
            <a:r>
              <a:t>Resultado quatro — o central. A rede, com 78 curvas e cerca de mil parâmetros, destilada em uma linha — com fidelidade de 0,900: seis variáveis, quatro termos.</a:t>
            </a:r>
          </a:p>
          <a:p/>
          <a:p>
            <a:r>
              <a:t>E cada termo pode ser lido — e criticado — economicamente. A raiz quadrada do valor do terreno traduz retornos marginais decrescentes. O termo linear soma o valor do metro quadrado de construção e a área do terreno — atenção: a soma só é válida porque as variáveis estão normalizadas; não é uma equivalência econômica. E o termo cúbico é uma interação entre obsolescência, padrão e subdeclaração.</a:t>
            </a:r>
          </a:p>
          <a:p/>
          <a:p>
            <a:r>
              <a:t>Ponto de honestidade: o sinal desse último termo pode se inverter quando há indício de subdeclaração. É exatamente o tipo de coisa que só se enxerga — e só se critica — porque a equação está aberta.</a:t>
            </a:r>
          </a:p>
          <a:p/>
          <a:p>
            <a:r>
              <a:t>Fidelidade de 0,900 à rede; R² de 0,665 no teste. Resposta à pergunta ii: a destilação preserva boa parte do desempenho, com perda controlada.</a:t>
            </a:r>
          </a:p>
          <a:p/>
          <a:p>
            <a:r>
              <a:t>Os parâmetros de normalização estão no Anexo A do artigo (slide de apoio C, no final).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~0:50 (acumulado 14:15)</a:t>
            </a:r>
          </a:p>
          <a:p/>
          <a:p>
            <a:r>
              <a:t>E é auditável na prática. Um apartamento hipotético: normalizo as seis variáveis com os parâmetros do Anexo A, somo os quatro termos e tiro a exponencial. Cerca de R$ 6.530 por metro quadrado.</a:t>
            </a:r>
          </a:p>
          <a:p/>
          <a:p>
            <a:r>
              <a:t>Qualquer avaliador, assistente técnico ou auditor refaz esta conta numa calculadora. Compare com explicar 625 pesos de uma MLP.</a:t>
            </a:r>
          </a:p>
          <a:p/>
          <a:p>
            <a:r>
              <a:t>Opcional, só se houver folga de tempo: se a mesma transação estivesse sinalizada como subdeclarada (SD = 1), o último termo passaria de 0,334 para −0,003 e a estimativa cairia para cerca de R$ 4.660 por m². O avaliador enxerga esse efeito — e pode criticá-lo.</a:t>
            </a:r>
          </a:p>
          <a:p/>
          <a:p>
            <a:r>
              <a:t>IMPORTANTE: este exemplo é ilustrativo (dados hipotéticos); não consta do artigo. Se preferir, o slide pode ser suprimido sem quebrar o encadeamento.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~1:10 (acumulado 15:25)</a:t>
            </a:r>
          </a:p>
          <a:p/>
          <a:p>
            <a:r>
              <a:t>Contra o modelo clássico: 0,665 contra 0,661. Diferença de 0,004 — é empate técnico. Por isso a pergunta iii foi formulada como não inferioridade. Aliás, em MAPE o OLS é ligeiramente melhor: 18,0 contra 18,3.</a:t>
            </a:r>
          </a:p>
          <a:p/>
          <a:p>
            <a:r>
              <a:t>Então onde está o ganho? Não em ser fechada e auditável — o OLS também é. O ganho está em como a forma foi obtida: no OLS, eu escolhi as transformações de Box–Cox e a seleção stepwise; na equação destilada, a forma veio dos dados — inclusive uma interação que eu não teria especificado à mão.</a:t>
            </a:r>
          </a:p>
          <a:p/>
          <a:p>
            <a:r>
              <a:t>E o OLS, apesar do bom R², viola homocedasticidade e normalidade: Breusch–Pagan, White e Jarque–Bera rejeitam. A heterocedasticidade não enviesa a estimativa pontual, mas invalida os intervalos de confiança clássicos — para uso em laudo, exigiria erros-padrão robustos, HC3.</a:t>
            </a:r>
          </a:p>
          <a:p/>
          <a:p>
            <a:r>
              <a:t>Resposta à pergunta iii: na estimativa pontual, sim, não inferior — com forma fechada e auditável. A confirmação pede seleção da expressão só na validação e intervalos de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~0:40 (acumulado 16:05)</a:t>
            </a:r>
          </a:p>
          <a:p/>
          <a:p>
            <a:r>
              <a:t>Visualmente, a mesma história. A KAN tem a nuvem mais fechada em torno da diagonal. A equação destilada acompanha a rede, sem viés sistemático ao longo dos valores previstos — a média dos resíduos fica próxima de zero em toda a faixa — com um leve alargamento nas pontas, que é a perda controlada da destilação. E o OLS fica muito próximo da equação.</a:t>
            </a:r>
          </a:p>
          <a:p/>
          <a:p>
            <a:r>
              <a:t>Observação franca, só se perguntarem: os três modelos subestimam os imóveis mais caros (observado acima de ln ≈ 9,3). A cauda superior é difícil para os seis modelos: nela a dispersão dos resíduos se alarga, inclusive na KAN.</a:t>
            </a:r>
          </a:p>
          <a:p/>
          <a:p>
            <a:r>
              <a:t>No final há um slide de apoio com os resíduos dos seis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~1:10 (acumulado 17:15)</a:t>
            </a:r>
          </a:p>
          <a:p/>
          <a:p>
            <a:r>
              <a:t>O que isso significa para o lema do congresso? Com a equação aberta, o avaliador pode fazer quatro coisas: inspecionar cada termo; criticar sinais e plausibilidade; delimitar o domínio de aplicação; e sustentar o valor perante terceiros.</a:t>
            </a:r>
          </a:p>
          <a:p/>
          <a:p>
            <a:r>
              <a:t>O IVSC, no Perspectives Paper de 2025, define AVM como cálculo automatizado sem julgamento profissional sobre o modelo — e, por essa definição, um AVM isolado não produz uma avaliação conforme os IVS. Mas modelos podem auxiliar o avaliador que compreende, seleciona e revisa criticamente o modelo. A forma fechada é o que viabiliza isso.</a:t>
            </a:r>
          </a:p>
          <a:p/>
          <a:p>
            <a:r>
              <a:t>E um lembrete normativo brasileiro: a NBR 14653-2 não fixa limiar de R². O grau de precisão vem do intervalo de confiança de 80% — que, para modelos de aprendizado, se estima por bootstrap.</a:t>
            </a:r>
          </a:p>
          <a:p/>
          <a:p>
            <a:r>
              <a:t>O profissional continua responsável pela seleção das variáveis, pela sanidade econômica da equação e pela fundamentação do laudo.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~1:00 (acumulado 18:15)</a:t>
            </a:r>
          </a:p>
          <a:p/>
          <a:p>
            <a:r>
              <a:t>O que este estudo ainda não prova — e o teste que falta para cada ponto. Declarar isso fortalece o trabalho.</a:t>
            </a:r>
          </a:p>
          <a:p/>
          <a:p>
            <a:r>
              <a:t>Destaco duas. Primeira: a equação foi escolhida na fronteira de Pareto olhando também o conjunto de teste; logo, o 0,665 é uma estimativa pontual otimista. O protocolo correto é selecionar só na validação e usar o teste uma única vez.</a:t>
            </a:r>
          </a:p>
          <a:p/>
          <a:p>
            <a:r>
              <a:t>Segunda: a partição é aleatória no espaço — o mesmo edifício pode estar em treino e teste. Isso pode inflar as métricas de todos os modelos. O caminho é validação por grupos, espacial por blocos e holdout temporal (treinar em um período, testar no seguinte).</a:t>
            </a:r>
          </a:p>
          <a:p/>
          <a:p>
            <a:r>
              <a:t>As demais: CEP como proxy fraca; diferenças pequenas sem intervalo de confiança; variáveis transacionais que podem não existir ex ante; e o enquadramento formal da NBR 14653-2, que pede o intervalo de 80%.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~1:10 (acumulado 19:25)</a:t>
            </a:r>
          </a:p>
          <a:p/>
          <a:p>
            <a:r>
              <a:t>Três perguntas, três respostas.</a:t>
            </a:r>
          </a:p>
          <a:p/>
          <a:p>
            <a:r>
              <a:t>Um: a KAN supera o OLS e as MLP? Sim — 0,716 contra 0,661 e 0,638 — com a ressalva do orçamento de parâmetros.</a:t>
            </a:r>
          </a:p>
          <a:p/>
          <a:p>
            <a:r>
              <a:t>Dois: a destilação preserva o desempenho? Em grande parte — fidelidade de 0,900; o R² passa de 0,716 para 0,665. É o preço da forma fechada.</a:t>
            </a:r>
          </a:p>
          <a:p/>
          <a:p>
            <a:r>
              <a:t>Três: a equação é não inferior ao OLS? Na estimativa pontual, sim — 0,665 contra 0,661 — com quatro termos, e sem que ninguém impusesse a forma funcional. A confirmação pede seleção só na validação e intervalos de confiança.</a:t>
            </a:r>
          </a:p>
          <a:p/>
          <a:p>
            <a:r>
              <a:t>E o gráfico do início: o canto superior direito já não está vazio. (As posições são esquemáticas: o eixo vertical é flexibilidade funcional, não R².) A KAN sobe no eixo da capacidade com interpretabilidade estrutural; a destilação leva o modelo para o canto da transparência.</a:t>
            </a:r>
          </a:p>
          <a:p/>
          <a:p>
            <a:r>
              <a:t>A dicotomia entre modelo interpretável e modelo de alto desempenho pode ser superada — com enquadramento normativo pleno ainda sujeito à validação adicional que acabei de listar.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~0:20 (acumulado 19:45)</a:t>
            </a:r>
          </a:p>
          <a:p/>
          <a:p>
            <a:r>
              <a:t>Fechar com os três verbos: a rede aprende, a equação explica, o avaliador decide.</a:t>
            </a:r>
          </a:p>
          <a:p/>
          <a:p>
            <a:r>
              <a:t>Agradecer e convidar ao debate — especialmente sobre interpretabilidade, uso pericial e validação espacial.</a:t>
            </a:r>
          </a:p>
          <a:p/>
          <a:p>
            <a:r>
              <a:t>Depois deste slide há quatro slides de apoio para as perguntas: métricas completas, OLS e diagnósticos, parâmetros de normalização da equação e resíduos dos seis modelos.</a:t>
            </a:r>
          </a:p>
          <a:p>
            <a:r>
              <a:t>Apontar o rodapé: base, scripts e artigo já publicados no Kaggle (kaggle.com/datasets/agnaldocalvibenvenho/kan-e-regresso-simblica).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 para perguntas. Tabela 3 do artigo, acrescida do R² de treino e validação (Figura 3 do artigo). Observação: na validação, o OLS (0,636) fica acima da KAN+SR (0,619) — mais um motivo para falar em equivalência, não em superioridade.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apoio. Coeficientes do Anexo B do artigo; os termos de Box–Cox estão escritos na forma exata do ajuste (arquivo formula_ols.txt: λ = 1,873 para o fator de obsolescência, 0,814 para o valor do m² de construção e 0,731 para o nº de pavimentos). O Anexo B do artigo apresenta esses termos de forma compacta, como potências.</a:t>
            </a:r>
          </a:p>
          <a:p/>
          <a:p>
            <a:r>
              <a:t>A heterocedasticidade não enviesa as estimativas pontuais, mas invalida os intervalos de confiança clássicos: para uso em laudo, erros-padrão robustos (HC3) ou revisão da especificação.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apoio. Tabela A.1 do artigo e recomendações de uso da equação (Seções 5.3 e 6.4).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apoio. Equivale à Figura 7 do artigo, redesenhada a partir das mesmas predições. A média dos resíduos fica próxima de zero na KAN, na KAN+SR, no OLS e na SR isolada; nas MLP há leve viés positivo (subestimação), mais visível na de 2 camadas (≈ +0,08 em ln). Em todos os modelos a dispersão cresce na faixa de valores previstos mais altos.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B52BA-20C0-0792-B774-2C6C17EB6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EA008F-02BA-FF69-C977-64657DC62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B7ABA6-B278-CA20-4C74-08C3E455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588CC4-8EE1-FFC4-C77F-6803D168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AC640B-DDA6-D3C5-6A10-4D7D0C65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69264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B4FB6-9E8E-8847-238D-58190D3D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64400-E214-6010-E229-9FA71014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59A392-AA9A-DA3F-2B5C-6D6AE8D776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1B1AC4-4B6C-4EFB-E440-DDB0058A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3E0BAC-6309-4461-886F-A79C8EBD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94111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41CEF-7670-B5FD-1CED-BE0E93F5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D38E1E-A01A-AD88-8EA3-81AF4F40E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B62A61-D76F-3061-0021-92CBE0EC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68AB8-AEDB-63C0-A1DC-FA33735B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9B3CD6-D03C-252F-644E-070E88EB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27697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2D390-1066-29AC-A879-AB744997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6707A3-9F8A-83CD-C967-7B931736E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4FC989-05A5-7A2A-F618-D632B3AE0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9B2F98-AD7E-ED0F-9B4A-F18D4259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5318AF-AA0A-0CA3-F350-8C471E2C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B09371-3A78-06E1-2194-E3DC7481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2289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8B6DA-DB21-FC20-4701-48EB1B7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320949-433C-53A8-3545-28B83F007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E7A878-009C-FA5D-F446-039D843C9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A842EF-DDCD-CAC2-44B1-801BE068D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7ABE43-9A90-8AF6-7EF3-3B0D1E67B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7EB23C-FFD2-A85E-5979-4CACF840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94FCB1-4C10-E9AC-CFA2-F2444C00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D9FD8B-D709-ADC9-186B-C0F11752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93128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5EF3B-086A-AB0D-31EF-364B02D2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4B5B2C-45E2-8697-1DB2-5876B3EC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1F99CD-AC14-7509-91EA-382694D7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45EB46-0533-2F56-7444-F6B2F9EC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546220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ABBB0C-30DE-2162-7235-F7B3FAB3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EDD290-FEE2-D47D-536E-3592F96D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C2F8AE-7098-D93B-0FCC-917BB954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0328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ECBDE-8F4D-3109-AD55-1CC8A937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F839DE-2F05-FEAA-3D0E-54335A2B7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411DDD-DB54-8FDD-BE02-E9DA5B5C7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111AEF-0460-4473-3B43-51F8FBAE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37AF16-0841-B96D-E3E9-7499FF4F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7F5574-21B8-3DD8-784A-41BB9AA6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65690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1ECA3-4ACA-A280-12BF-ED95C89D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20A52C-5292-8033-A4D6-B051B8B5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FD1301-9E84-F36F-B4C9-524FA134D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F5302-9D0D-E02A-2BF9-330A6B9A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E4E1CF-3965-6B8B-8D5F-59897D58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09E21A-DA90-0979-DB1E-64FDB178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5748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9A0BE-DD97-85E5-4BCD-7450E162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413345-CA80-1089-71DF-7A844ACB5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096E0-8D53-7B6D-F3CE-7AB523A5AE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6F4BA-2F90-77A3-CFEB-1F425191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90668-4A1C-E4F7-45EE-E7979EE9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63327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8DFA1E-740E-EB7F-DF7A-881ABEDBA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19122E-E33E-1A13-FA5C-8FA945586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49BB43-22AD-9C9A-696D-2D8051D2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E3D6BE-9243-48DD-8E6D-A565334C2010}" type="datetimeFigureOut">
              <a:rPr lang="es-PY" smtClean="0"/>
              <a:t>23/8/2026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D614D0-63D8-C7A1-16A2-EB621AFC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1EAC91-7624-F86A-0C7C-B2725883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6605D4-26B7-4EA3-B836-8C8593473CE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4176613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UNAM&#10;&#10;El contenido generado por IA puede ser incorrecto.">
            <a:extLst>
              <a:ext uri="{FF2B5EF4-FFF2-40B4-BE49-F238E27FC236}">
                <a16:creationId xmlns:a16="http://schemas.microsoft.com/office/drawing/2014/main" id="{C9DC5F60-EE2A-FD01-4045-2E19500E935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9"/>
            <a:ext cx="12192000" cy="681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2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kaggle.com/datasets/agnaldocalvibenvenho/kan-e-regresso-simblica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M&#10;&#10;El contenido generado por IA puede ser incorrecto.">
            <a:extLst>
              <a:ext uri="{FF2B5EF4-FFF2-40B4-BE49-F238E27FC236}">
                <a16:creationId xmlns:a16="http://schemas.microsoft.com/office/drawing/2014/main" id="{91AD36E6-A791-3769-975E-B3DA8ADD30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38"/>
            <a:ext cx="12192000" cy="6864138"/>
          </a:xfrm>
          <a:prstGeom prst="rect">
            <a:avLst/>
          </a:prstGeom>
        </p:spPr>
      </p:pic>
      <p:pic>
        <p:nvPicPr>
          <p:cNvPr id="5" name="Imagen 4" descr="ATASA&#10;&#10;El contenido generado por IA puede ser incorrecto.">
            <a:extLst>
              <a:ext uri="{FF2B5EF4-FFF2-40B4-BE49-F238E27FC236}">
                <a16:creationId xmlns:a16="http://schemas.microsoft.com/office/drawing/2014/main" id="{DCC4F862-0F02-44FE-AF6F-1A6E0B136F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862" y="487714"/>
            <a:ext cx="2035518" cy="682004"/>
          </a:xfrm>
          <a:prstGeom prst="rect">
            <a:avLst/>
          </a:prstGeom>
        </p:spPr>
      </p:pic>
      <p:pic>
        <p:nvPicPr>
          <p:cNvPr id="7" name="Imagen 6" descr="UPAV CONGRESO 2026.&#10;&#10;El contenido generado por IA puede ser incorrecto.">
            <a:extLst>
              <a:ext uri="{FF2B5EF4-FFF2-40B4-BE49-F238E27FC236}">
                <a16:creationId xmlns:a16="http://schemas.microsoft.com/office/drawing/2014/main" id="{655189A2-A086-3CD2-19D8-5278202987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494" y="207377"/>
            <a:ext cx="1129213" cy="1030407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53A8851-156B-27AF-A355-C0BC78B866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130" y="262293"/>
            <a:ext cx="1755648" cy="10304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pic>
        <p:nvPicPr>
          <p:cNvPr id="11" name="Imagen 10" descr="The image displays the logo of the Panama Association of Valuation, an organization focused on valuation and assessment.&#10;&#10;El contenido generado por IA puede ser incorrecto.">
            <a:extLst>
              <a:ext uri="{FF2B5EF4-FFF2-40B4-BE49-F238E27FC236}">
                <a16:creationId xmlns:a16="http://schemas.microsoft.com/office/drawing/2014/main" id="{746C27C6-C167-4C4A-C7E2-2590C4B461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0" y="268745"/>
            <a:ext cx="1119941" cy="1119941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03EC155E-06F7-AD62-779C-FCA8CDBD20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39317" y="5947088"/>
            <a:ext cx="5026130" cy="585938"/>
          </a:xfrm>
          <a:prstGeom prst="rect">
            <a:avLst/>
          </a:prstGeom>
          <a:solidFill>
            <a:srgbClr val="0B36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361B826-F1D7-ED09-DA95-4C59C5A9FE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40299" y="6055391"/>
            <a:ext cx="464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XL Congreso UPAV </a:t>
            </a:r>
            <a:r>
              <a:rPr lang="es-PY" b="1" dirty="0">
                <a:solidFill>
                  <a:schemeClr val="bg1"/>
                </a:solidFill>
              </a:rPr>
              <a:t>2026 - Madrid , España.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184C71D-1880-A922-EE6B-93C6DE07BA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3941" y="6539164"/>
            <a:ext cx="3708710" cy="318836"/>
          </a:xfrm>
          <a:prstGeom prst="rect">
            <a:avLst/>
          </a:prstGeom>
          <a:solidFill>
            <a:srgbClr val="E6BB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Y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9C68C9-2B45-5F00-1B92-32D9F3B8A8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1494" y="6593625"/>
            <a:ext cx="3558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Y" sz="1200" b="1" dirty="0">
                <a:solidFill>
                  <a:srgbClr val="0B3658"/>
                </a:solidFill>
              </a:rPr>
              <a:t>6, 7 y 8 de octubre 2026</a:t>
            </a:r>
          </a:p>
        </p:txBody>
      </p:sp>
      <p:sp>
        <p:nvSpPr>
          <p:cNvPr id="20" name="Evento"/>
          <p:cNvSpPr txBox="1"/>
          <p:nvPr/>
        </p:nvSpPr>
        <p:spPr>
          <a:xfrm>
            <a:off x="713232" y="1572768"/>
            <a:ext cx="107899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1" lang="pt-BR" spc="140">
                <a:solidFill>
                  <a:srgbClr val="BB1F2C"/>
                </a:solidFill>
                <a:latin typeface="Calibri"/>
              </a:rPr>
              <a:t>XL CONGRESSO PAN-AMERICANO DE AVALIAÇÃO   ·   CONCURSO DE PONENCIAS TÉCNICAS</a:t>
            </a:r>
          </a:p>
        </p:txBody>
      </p:sp>
      <p:sp>
        <p:nvSpPr>
          <p:cNvPr id="21" name="Título do trabalho"/>
          <p:cNvSpPr txBox="1"/>
          <p:nvPr/>
        </p:nvSpPr>
        <p:spPr>
          <a:xfrm>
            <a:off x="713232" y="1901952"/>
            <a:ext cx="10698480" cy="160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3100" b="1" lang="pt-BR">
                <a:solidFill>
                  <a:srgbClr val="0B3658"/>
                </a:solidFill>
                <a:latin typeface="Calibri"/>
              </a:rPr>
              <a:t>MODELAGEM HÍBRIDA PARA AVALIAÇÃO DE IMÓVEIS</a:t>
            </a:r>
          </a:p>
          <a:p>
            <a:pPr algn="l">
              <a:lnSpc>
                <a:spcPct val="95000"/>
              </a:lnSpc>
              <a:buNone/>
            </a:pPr>
            <a:r>
              <a:rPr sz="3100" b="1" lang="pt-BR">
                <a:solidFill>
                  <a:srgbClr val="0B3658"/>
                </a:solidFill>
                <a:latin typeface="Calibri"/>
              </a:rPr>
              <a:t>COM REDES NEURAIS KOLMOGOROV–ARNOLD</a:t>
            </a:r>
          </a:p>
          <a:p>
            <a:pPr algn="l">
              <a:lnSpc>
                <a:spcPct val="95000"/>
              </a:lnSpc>
              <a:buNone/>
            </a:pPr>
            <a:r>
              <a:rPr sz="3100" b="1" lang="pt-BR">
                <a:solidFill>
                  <a:srgbClr val="0B3658"/>
                </a:solidFill>
                <a:latin typeface="Calibri"/>
              </a:rPr>
              <a:t>E REGRESSÃO SIMBÓLICA</a:t>
            </a:r>
          </a:p>
        </p:txBody>
      </p:sp>
      <p:sp>
        <p:nvSpPr>
          <p:cNvPr id="22" name="Subtítulo"/>
          <p:cNvSpPr txBox="1"/>
          <p:nvPr/>
        </p:nvSpPr>
        <p:spPr>
          <a:xfrm>
            <a:off x="713232" y="3584448"/>
            <a:ext cx="694944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2500" b="1" lang="pt-BR">
                <a:solidFill>
                  <a:srgbClr val="BB1F2C"/>
                </a:solidFill>
                <a:latin typeface="Calibri"/>
              </a:rPr>
              <a:t>Da caixa-preta à equação auditável</a:t>
            </a:r>
          </a:p>
        </p:txBody>
      </p:sp>
      <p:sp>
        <p:nvSpPr>
          <p:cNvPr id="23" name="Autor"/>
          <p:cNvSpPr txBox="1"/>
          <p:nvPr/>
        </p:nvSpPr>
        <p:spPr>
          <a:xfrm>
            <a:off x="713232" y="4370832"/>
            <a:ext cx="69494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2100" b="1" lang="pt-BR">
                <a:solidFill>
                  <a:srgbClr val="0B3658"/>
                </a:solidFill>
                <a:latin typeface="Calibri"/>
              </a:rPr>
              <a:t>Agnaldo Calvi Benvenho</a:t>
            </a:r>
          </a:p>
        </p:txBody>
      </p:sp>
      <p:sp>
        <p:nvSpPr>
          <p:cNvPr id="24" name="Filiação"/>
          <p:cNvSpPr txBox="1"/>
          <p:nvPr/>
        </p:nvSpPr>
        <p:spPr>
          <a:xfrm>
            <a:off x="713232" y="4736592"/>
            <a:ext cx="713232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50" b="0" lang="pt-BR">
                <a:solidFill>
                  <a:srgbClr val="5B6775"/>
                </a:solidFill>
                <a:latin typeface="Calibri"/>
              </a:rPr>
              <a:t>IBAPE — Instituto Brasileiro de Avaliações e Perícias de Engenharia   ·   Brasil</a:t>
            </a:r>
          </a:p>
        </p:txBody>
      </p:sp>
      <p:sp>
        <p:nvSpPr>
          <p:cNvPr id="25" name="Síntese"/>
          <p:cNvSpPr txBox="1"/>
          <p:nvPr/>
        </p:nvSpPr>
        <p:spPr>
          <a:xfrm>
            <a:off x="713232" y="5303520"/>
            <a:ext cx="694944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15.000</a:t>
            </a:r>
            <a:r>
              <a:rPr sz="1500" b="0" lang="pt-BR">
                <a:solidFill>
                  <a:srgbClr val="5B6775"/>
                </a:solidFill>
                <a:latin typeface="Calibri"/>
              </a:rPr>
              <a:t> apartamentos   ·   </a:t>
            </a:r>
            <a:r>
              <a:rPr sz="1500" b="1" lang="pt-BR">
                <a:solidFill>
                  <a:srgbClr val="0B3658"/>
                </a:solidFill>
                <a:latin typeface="Calibri"/>
              </a:rPr>
              <a:t>6</a:t>
            </a:r>
            <a:r>
              <a:rPr sz="1500" b="0" lang="pt-BR">
                <a:solidFill>
                  <a:srgbClr val="5B6775"/>
                </a:solidFill>
                <a:latin typeface="Calibri"/>
              </a:rPr>
              <a:t> modelos   ·   </a:t>
            </a:r>
            <a:r>
              <a:rPr sz="1500" b="1" lang="pt-BR">
                <a:solidFill>
                  <a:srgbClr val="0B3658"/>
                </a:solidFill>
                <a:latin typeface="Calibri"/>
              </a:rPr>
              <a:t>1</a:t>
            </a:r>
            <a:r>
              <a:rPr sz="1500" b="0" lang="pt-BR">
                <a:solidFill>
                  <a:srgbClr val="5B6775"/>
                </a:solidFill>
                <a:latin typeface="Calibri"/>
              </a:rPr>
              <a:t> pergunta:</a:t>
            </a:r>
          </a:p>
          <a:p>
            <a:pPr algn="l">
              <a:lnSpc>
                <a:spcPct val="105000"/>
              </a:lnSpc>
              <a:buNone/>
            </a:pPr>
            <a:r>
              <a:rPr sz="1500" b="0" lang="pt-BR">
                <a:solidFill>
                  <a:srgbClr val="5B6775"/>
                </a:solidFill>
                <a:latin typeface="Calibri"/>
              </a:rPr>
              <a:t>é possível ter capacidade preditiva e transparência ao mesmo tempo?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1000" y="4828031"/>
            <a:ext cx="3429000" cy="0"/>
          </a:xfrm>
          <a:prstGeom prst="line">
            <a:avLst/>
          </a:prstGeom>
          <a:ln w="12700">
            <a:solidFill>
              <a:srgbClr val="CBD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001000" y="3566160"/>
            <a:ext cx="0" cy="1261871"/>
          </a:xfrm>
          <a:prstGeom prst="line">
            <a:avLst/>
          </a:prstGeom>
          <a:ln w="12700">
            <a:solidFill>
              <a:srgbClr val="CBD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524281" y="4096858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66102" y="3949371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9062" y="3888527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11880" y="3863133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83662" y="374865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4793" y="4061851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84395" y="4308512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30639" y="4638633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93930" y="355024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38534" y="3802565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94982" y="4103065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86326" y="4428763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98077" y="4175486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60695" y="3834827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86942" y="3808432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16465" y="386507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73637" y="389750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75257" y="4148468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42659" y="355024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9240" y="3734158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2218" y="3990558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19959" y="4327754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513528" y="387672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16712" y="3805345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17821" y="3659650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59558" y="414811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67278" y="3966413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51096" y="3860457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8830" y="453697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48825" y="4193672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73283" y="4513952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87537" y="3550249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70495" y="4309455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87405" y="4390814"/>
            <a:ext cx="82296" cy="82296"/>
          </a:xfrm>
          <a:prstGeom prst="ellipse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8074152" y="3692347"/>
            <a:ext cx="3282696" cy="1009497"/>
          </a:xfrm>
          <a:custGeom>
            <a:avLst/>
            <a:gdLst/>
            <a:ahLst/>
            <a:cxnLst/>
            <a:rect l="l" t="t" r="r" b="b"/>
            <a:pathLst>
              <a:path w="3282696" h="1009497">
                <a:moveTo>
                  <a:pt x="0" y="1009497"/>
                </a:moveTo>
                <a:lnTo>
                  <a:pt x="82067" y="932733"/>
                </a:lnTo>
                <a:lnTo>
                  <a:pt x="164134" y="861515"/>
                </a:lnTo>
                <a:lnTo>
                  <a:pt x="246202" y="795443"/>
                </a:lnTo>
                <a:lnTo>
                  <a:pt x="328269" y="734145"/>
                </a:lnTo>
                <a:lnTo>
                  <a:pt x="410337" y="677276"/>
                </a:lnTo>
                <a:lnTo>
                  <a:pt x="492404" y="624517"/>
                </a:lnTo>
                <a:lnTo>
                  <a:pt x="574471" y="575569"/>
                </a:lnTo>
                <a:lnTo>
                  <a:pt x="656539" y="530159"/>
                </a:lnTo>
                <a:lnTo>
                  <a:pt x="738606" y="488030"/>
                </a:lnTo>
                <a:lnTo>
                  <a:pt x="820674" y="448944"/>
                </a:lnTo>
                <a:lnTo>
                  <a:pt x="902741" y="412683"/>
                </a:lnTo>
                <a:lnTo>
                  <a:pt x="984808" y="379042"/>
                </a:lnTo>
                <a:lnTo>
                  <a:pt x="1066876" y="347832"/>
                </a:lnTo>
                <a:lnTo>
                  <a:pt x="1148943" y="318877"/>
                </a:lnTo>
                <a:lnTo>
                  <a:pt x="1231011" y="292014"/>
                </a:lnTo>
                <a:lnTo>
                  <a:pt x="1313078" y="267092"/>
                </a:lnTo>
                <a:lnTo>
                  <a:pt x="1395145" y="243971"/>
                </a:lnTo>
                <a:lnTo>
                  <a:pt x="1477213" y="222521"/>
                </a:lnTo>
                <a:lnTo>
                  <a:pt x="1559280" y="202620"/>
                </a:lnTo>
                <a:lnTo>
                  <a:pt x="1641348" y="184158"/>
                </a:lnTo>
                <a:lnTo>
                  <a:pt x="1723415" y="167029"/>
                </a:lnTo>
                <a:lnTo>
                  <a:pt x="1805482" y="151138"/>
                </a:lnTo>
                <a:lnTo>
                  <a:pt x="1887550" y="136396"/>
                </a:lnTo>
                <a:lnTo>
                  <a:pt x="1969617" y="122718"/>
                </a:lnTo>
                <a:lnTo>
                  <a:pt x="2051685" y="110029"/>
                </a:lnTo>
                <a:lnTo>
                  <a:pt x="2133752" y="98257"/>
                </a:lnTo>
                <a:lnTo>
                  <a:pt x="2215819" y="87335"/>
                </a:lnTo>
                <a:lnTo>
                  <a:pt x="2297887" y="77203"/>
                </a:lnTo>
                <a:lnTo>
                  <a:pt x="2379954" y="67803"/>
                </a:lnTo>
                <a:lnTo>
                  <a:pt x="2462022" y="59082"/>
                </a:lnTo>
                <a:lnTo>
                  <a:pt x="2544089" y="50991"/>
                </a:lnTo>
                <a:lnTo>
                  <a:pt x="2626156" y="43484"/>
                </a:lnTo>
                <a:lnTo>
                  <a:pt x="2708224" y="36520"/>
                </a:lnTo>
                <a:lnTo>
                  <a:pt x="2790291" y="30060"/>
                </a:lnTo>
                <a:lnTo>
                  <a:pt x="2872359" y="24066"/>
                </a:lnTo>
                <a:lnTo>
                  <a:pt x="2954426" y="18505"/>
                </a:lnTo>
                <a:lnTo>
                  <a:pt x="3036493" y="13346"/>
                </a:lnTo>
                <a:lnTo>
                  <a:pt x="3118561" y="8560"/>
                </a:lnTo>
                <a:lnTo>
                  <a:pt x="3200628" y="4119"/>
                </a:lnTo>
                <a:lnTo>
                  <a:pt x="3282696" y="0"/>
                </a:lnTo>
              </a:path>
            </a:pathLst>
          </a:custGeom>
          <a:noFill/>
          <a:ln w="38100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9680" y="4443983"/>
            <a:ext cx="246888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1" lang="pt-BR">
                <a:solidFill>
                  <a:srgbClr val="0B3658"/>
                </a:solidFill>
                <a:latin typeface="Calibri"/>
              </a:rPr>
              <a:t>a rede aprende a curva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715500" y="4919471"/>
            <a:ext cx="0" cy="237745"/>
          </a:xfrm>
          <a:prstGeom prst="line">
            <a:avLst/>
          </a:prstGeom>
          <a:ln w="2540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909560" y="5212079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1" lang="pt-BR">
                <a:solidFill>
                  <a:srgbClr val="0B3658"/>
                </a:solidFill>
                <a:latin typeface="Cambria"/>
              </a:rPr>
              <a:t>ln(V/m²) = 7,6153 + √(1,9699 · </a:t>
            </a:r>
            <a:r>
              <a:rPr sz="1350" b="1" i="1" lang="pt-BR">
                <a:solidFill>
                  <a:srgbClr val="0B3658"/>
                </a:solidFill>
                <a:latin typeface="Cambria"/>
              </a:rPr>
              <a:t>VT</a:t>
            </a:r>
            <a:r>
              <a:rPr sz="1350" b="1" lang="pt-BR">
                <a:solidFill>
                  <a:srgbClr val="0B3658"/>
                </a:solidFill>
                <a:latin typeface="Cambria"/>
              </a:rPr>
              <a:t>) + …</a:t>
            </a:r>
          </a:p>
        </p:txBody>
      </p:sp>
    </p:spTree>
    <p:extLst>
      <p:ext uri="{BB962C8B-B14F-4D97-AF65-F5344CB8AC3E}">
        <p14:creationId xmlns:p14="http://schemas.microsoft.com/office/powerpoint/2010/main" val="72813312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1 · O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O dilema do avaliador: transparência ou capacidade preditiva?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4617720" cy="1847088"/>
          </a:xfrm>
          <a:prstGeom prst="roundRect">
            <a:avLst>
              <a:gd name="adj" fmla="val 4455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09928"/>
            <a:ext cx="416052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Regressão linear (OLS)</a:t>
            </a:r>
          </a:p>
        </p:txBody>
      </p:sp>
      <p:sp>
        <p:nvSpPr>
          <p:cNvPr id="8" name="Freeform 7"/>
          <p:cNvSpPr/>
          <p:nvPr/>
        </p:nvSpPr>
        <p:spPr>
          <a:xfrm>
            <a:off x="813816" y="2179929"/>
            <a:ext cx="182880" cy="142647"/>
          </a:xfrm>
          <a:custGeom>
            <a:avLst/>
            <a:gdLst/>
            <a:ahLst/>
            <a:cxnLst/>
            <a:rect l="l" t="t" r="r" b="b"/>
            <a:pathLst>
              <a:path w="182880" h="142647">
                <a:moveTo>
                  <a:pt x="0" y="78639"/>
                </a:moveTo>
                <a:lnTo>
                  <a:pt x="65836" y="142647"/>
                </a:lnTo>
                <a:lnTo>
                  <a:pt x="182880" y="0"/>
                </a:lnTo>
              </a:path>
            </a:pathLst>
          </a:custGeom>
          <a:noFill/>
          <a:ln w="38100" cap="rnd">
            <a:solidFill>
              <a:srgbClr val="2E7D4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093976"/>
            <a:ext cx="3822191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Equação aberta, consagrada em laudos, perícias e normas.</a:t>
            </a:r>
          </a:p>
        </p:txBody>
      </p:sp>
      <p:sp>
        <p:nvSpPr>
          <p:cNvPr id="10" name="Freeform 9"/>
          <p:cNvSpPr/>
          <p:nvPr/>
        </p:nvSpPr>
        <p:spPr>
          <a:xfrm>
            <a:off x="822960" y="2770632"/>
            <a:ext cx="155448" cy="155447"/>
          </a:xfrm>
          <a:custGeom>
            <a:avLst/>
            <a:gdLst/>
            <a:ahLst/>
            <a:cxnLst/>
            <a:rect l="l" t="t" r="r" b="b"/>
            <a:pathLst>
              <a:path w="155448" h="155447">
                <a:moveTo>
                  <a:pt x="0" y="0"/>
                </a:moveTo>
                <a:lnTo>
                  <a:pt x="155448" y="155447"/>
                </a:lnTo>
              </a:path>
            </a:pathLst>
          </a:custGeom>
          <a:noFill/>
          <a:ln w="38100" cap="rnd">
            <a:solidFill>
              <a:srgbClr val="BB1F2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22960" y="2770632"/>
            <a:ext cx="155448" cy="155447"/>
          </a:xfrm>
          <a:custGeom>
            <a:avLst/>
            <a:gdLst/>
            <a:ahLst/>
            <a:cxnLst/>
            <a:rect l="l" t="t" r="r" b="b"/>
            <a:pathLst>
              <a:path w="155448" h="155447">
                <a:moveTo>
                  <a:pt x="155448" y="0"/>
                </a:moveTo>
                <a:lnTo>
                  <a:pt x="0" y="155447"/>
                </a:lnTo>
              </a:path>
            </a:pathLst>
          </a:custGeom>
          <a:noFill/>
          <a:ln w="38100" cap="rnd">
            <a:solidFill>
              <a:srgbClr val="BB1F2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88336"/>
            <a:ext cx="3822191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A forma funcional é imposta pelo analista — e o mercado não é linear.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11880"/>
            <a:ext cx="4617720" cy="1847088"/>
          </a:xfrm>
          <a:prstGeom prst="roundRect">
            <a:avLst>
              <a:gd name="adj" fmla="val 4455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721608"/>
            <a:ext cx="416052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Redes neurais (MLP)</a:t>
            </a:r>
          </a:p>
        </p:txBody>
      </p:sp>
      <p:sp>
        <p:nvSpPr>
          <p:cNvPr id="15" name="Freeform 14"/>
          <p:cNvSpPr/>
          <p:nvPr/>
        </p:nvSpPr>
        <p:spPr>
          <a:xfrm>
            <a:off x="813816" y="4191609"/>
            <a:ext cx="182880" cy="142646"/>
          </a:xfrm>
          <a:custGeom>
            <a:avLst/>
            <a:gdLst/>
            <a:ahLst/>
            <a:cxnLst/>
            <a:rect l="l" t="t" r="r" b="b"/>
            <a:pathLst>
              <a:path w="182880" h="142646">
                <a:moveTo>
                  <a:pt x="0" y="78639"/>
                </a:moveTo>
                <a:lnTo>
                  <a:pt x="65836" y="142646"/>
                </a:lnTo>
                <a:lnTo>
                  <a:pt x="182880" y="0"/>
                </a:lnTo>
              </a:path>
            </a:pathLst>
          </a:custGeom>
          <a:noFill/>
          <a:ln w="38100" cap="rnd">
            <a:solidFill>
              <a:srgbClr val="2E7D4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4105656"/>
            <a:ext cx="3822191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Aprendem a forma diretamente dos dados e captam interações.</a:t>
            </a:r>
          </a:p>
        </p:txBody>
      </p:sp>
      <p:sp>
        <p:nvSpPr>
          <p:cNvPr id="17" name="Freeform 16"/>
          <p:cNvSpPr/>
          <p:nvPr/>
        </p:nvSpPr>
        <p:spPr>
          <a:xfrm>
            <a:off x="822960" y="478231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155448" h="155448">
                <a:moveTo>
                  <a:pt x="0" y="0"/>
                </a:moveTo>
                <a:lnTo>
                  <a:pt x="155448" y="155448"/>
                </a:lnTo>
              </a:path>
            </a:pathLst>
          </a:custGeom>
          <a:noFill/>
          <a:ln w="38100" cap="rnd">
            <a:solidFill>
              <a:srgbClr val="BB1F2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22960" y="478231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155448" h="155448">
                <a:moveTo>
                  <a:pt x="155448" y="0"/>
                </a:moveTo>
                <a:lnTo>
                  <a:pt x="0" y="155448"/>
                </a:lnTo>
              </a:path>
            </a:pathLst>
          </a:custGeom>
          <a:noFill/>
          <a:ln w="38100" cap="rnd">
            <a:solidFill>
              <a:srgbClr val="BB1F2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700016"/>
            <a:ext cx="3822191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Não mostram como chegaram ao valor: são uma caixa-preta.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5138928"/>
            <a:ext cx="5303520" cy="0"/>
          </a:xfrm>
          <a:prstGeom prst="line">
            <a:avLst/>
          </a:prstGeom>
          <a:ln w="19050">
            <a:solidFill>
              <a:srgbClr val="1F2A3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72200" y="1691640"/>
            <a:ext cx="0" cy="3447288"/>
          </a:xfrm>
          <a:prstGeom prst="line">
            <a:avLst/>
          </a:prstGeom>
          <a:ln w="19050">
            <a:solidFill>
              <a:srgbClr val="1F2A3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72200" y="5212080"/>
            <a:ext cx="53035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5B6775"/>
                </a:solidFill>
                <a:latin typeface="Calibri"/>
              </a:rPr>
              <a:t>transparência e auditabilidade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4096512" y="3278124"/>
            <a:ext cx="3566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5B6775"/>
                </a:solidFill>
                <a:latin typeface="Calibri"/>
              </a:rPr>
              <a:t>capacidade de captar não linearidades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2011680"/>
            <a:ext cx="987552" cy="987552"/>
          </a:xfrm>
          <a:prstGeom prst="ellipse">
            <a:avLst/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700" b="1" lang="pt-BR">
                <a:solidFill>
                  <a:srgbClr val="FFFFFF"/>
                </a:solidFill>
                <a:latin typeface="Calibri"/>
              </a:rPr>
              <a:t>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72384"/>
            <a:ext cx="16459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aprende a forma,</a:t>
            </a:r>
          </a:p>
          <a:p>
            <a:pPr algn="ctr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mas é opaca</a:t>
            </a:r>
          </a:p>
        </p:txBody>
      </p:sp>
      <p:sp>
        <p:nvSpPr>
          <p:cNvPr id="26" name="Oval 25"/>
          <p:cNvSpPr/>
          <p:nvPr/>
        </p:nvSpPr>
        <p:spPr>
          <a:xfrm>
            <a:off x="10012680" y="3703320"/>
            <a:ext cx="987552" cy="987552"/>
          </a:xfrm>
          <a:prstGeom prst="ellipse">
            <a:avLst/>
          </a:prstGeom>
          <a:solidFill>
            <a:srgbClr val="6F8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700" b="1" lang="pt-BR">
                <a:solidFill>
                  <a:srgbClr val="FFFFFF"/>
                </a:solidFill>
                <a:latin typeface="Calibri"/>
              </a:rPr>
              <a:t>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31920"/>
            <a:ext cx="17830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é transparente,</a:t>
            </a:r>
          </a:p>
          <a:p>
            <a:pPr algn="r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mas impõe a forma</a:t>
            </a:r>
          </a:p>
        </p:txBody>
      </p:sp>
      <p:sp>
        <p:nvSpPr>
          <p:cNvPr id="28" name="Oval 27"/>
          <p:cNvSpPr/>
          <p:nvPr/>
        </p:nvSpPr>
        <p:spPr>
          <a:xfrm>
            <a:off x="9921240" y="1920240"/>
            <a:ext cx="1170432" cy="1170432"/>
          </a:xfrm>
          <a:prstGeom prst="ellipse">
            <a:avLst/>
          </a:prstGeom>
          <a:solidFill>
            <a:srgbClr val="FDF3DC"/>
          </a:solidFill>
          <a:ln w="31750">
            <a:solidFill>
              <a:srgbClr val="F0A8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4000" b="1" lang="pt-BR">
                <a:solidFill>
                  <a:srgbClr val="8A5F00"/>
                </a:solidFill>
                <a:latin typeface="Calibri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258568"/>
            <a:ext cx="17373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400" b="1" lang="pt-BR">
                <a:solidFill>
                  <a:srgbClr val="0B3658"/>
                </a:solidFill>
                <a:latin typeface="Calibri"/>
              </a:rPr>
              <a:t>flexível </a:t>
            </a:r>
            <a:r>
              <a:rPr sz="1400" b="0" lang="pt-BR">
                <a:solidFill>
                  <a:srgbClr val="0B3658"/>
                </a:solidFill>
                <a:latin typeface="Calibri"/>
              </a:rPr>
              <a:t>e</a:t>
            </a:r>
          </a:p>
          <a:p>
            <a:pPr algn="r">
              <a:buNone/>
            </a:pPr>
            <a:r>
              <a:rPr sz="1400" b="1" lang="pt-BR">
                <a:solidFill>
                  <a:srgbClr val="0B3658"/>
                </a:solidFill>
                <a:latin typeface="Calibri"/>
              </a:rPr>
              <a:t>transparente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800" b="0" lang="pt-BR">
                <a:solidFill>
                  <a:srgbClr val="FFFFFF"/>
                </a:solidFill>
                <a:latin typeface="Calibri"/>
              </a:rPr>
              <a:t>A pergunta do estudo: </a:t>
            </a:r>
            <a:r>
              <a:rPr sz="1800" b="1" lang="pt-BR">
                <a:solidFill>
                  <a:srgbClr val="FFFFFF"/>
                </a:solidFill>
                <a:latin typeface="Calibri"/>
              </a:rPr>
              <a:t>é possível ter as duas coisas ao mesmo tempo?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1 · O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O mercado imobiliário não é uma linha reta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6968" y="3291839"/>
            <a:ext cx="2889504" cy="0"/>
          </a:xfrm>
          <a:prstGeom prst="line">
            <a:avLst/>
          </a:prstGeom>
          <a:ln w="12700">
            <a:solidFill>
              <a:srgbClr val="5B6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86968" y="1874519"/>
            <a:ext cx="0" cy="1417320"/>
          </a:xfrm>
          <a:prstGeom prst="line">
            <a:avLst/>
          </a:prstGeom>
          <a:ln w="12700">
            <a:solidFill>
              <a:srgbClr val="5B6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6968" y="3328415"/>
            <a:ext cx="288950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valor do terreno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691639"/>
            <a:ext cx="10972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↑  valor por m²</a:t>
            </a:r>
          </a:p>
        </p:txBody>
      </p:sp>
      <p:sp>
        <p:nvSpPr>
          <p:cNvPr id="11" name="Freeform 10"/>
          <p:cNvSpPr/>
          <p:nvPr/>
        </p:nvSpPr>
        <p:spPr>
          <a:xfrm>
            <a:off x="973653" y="1888693"/>
            <a:ext cx="2716133" cy="921258"/>
          </a:xfrm>
          <a:custGeom>
            <a:avLst/>
            <a:gdLst/>
            <a:ahLst/>
            <a:cxnLst/>
            <a:rect l="l" t="t" r="r" b="b"/>
            <a:pathLst>
              <a:path w="2716133" h="921258">
                <a:moveTo>
                  <a:pt x="0" y="921258"/>
                </a:moveTo>
                <a:lnTo>
                  <a:pt x="2716133" y="0"/>
                </a:lnTo>
              </a:path>
            </a:pathLst>
          </a:custGeom>
          <a:noFill/>
          <a:ln w="22225" cap="rnd">
            <a:solidFill>
              <a:srgbClr val="A9B4C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73653" y="2129637"/>
            <a:ext cx="2716133" cy="1048817"/>
          </a:xfrm>
          <a:custGeom>
            <a:avLst/>
            <a:gdLst/>
            <a:ahLst/>
            <a:cxnLst/>
            <a:rect l="l" t="t" r="r" b="b"/>
            <a:pathLst>
              <a:path w="2716133" h="1048817">
                <a:moveTo>
                  <a:pt x="0" y="1048817"/>
                </a:moveTo>
                <a:lnTo>
                  <a:pt x="67903" y="960400"/>
                </a:lnTo>
                <a:lnTo>
                  <a:pt x="135806" y="879189"/>
                </a:lnTo>
                <a:lnTo>
                  <a:pt x="203710" y="804595"/>
                </a:lnTo>
                <a:lnTo>
                  <a:pt x="271613" y="736080"/>
                </a:lnTo>
                <a:lnTo>
                  <a:pt x="339516" y="673148"/>
                </a:lnTo>
                <a:lnTo>
                  <a:pt x="407420" y="615344"/>
                </a:lnTo>
                <a:lnTo>
                  <a:pt x="475323" y="562250"/>
                </a:lnTo>
                <a:lnTo>
                  <a:pt x="543226" y="513483"/>
                </a:lnTo>
                <a:lnTo>
                  <a:pt x="611130" y="468689"/>
                </a:lnTo>
                <a:lnTo>
                  <a:pt x="679033" y="427546"/>
                </a:lnTo>
                <a:lnTo>
                  <a:pt x="746936" y="389756"/>
                </a:lnTo>
                <a:lnTo>
                  <a:pt x="814840" y="355045"/>
                </a:lnTo>
                <a:lnTo>
                  <a:pt x="882743" y="323162"/>
                </a:lnTo>
                <a:lnTo>
                  <a:pt x="950646" y="293878"/>
                </a:lnTo>
                <a:lnTo>
                  <a:pt x="1018550" y="266980"/>
                </a:lnTo>
                <a:lnTo>
                  <a:pt x="1086453" y="242273"/>
                </a:lnTo>
                <a:lnTo>
                  <a:pt x="1154356" y="219580"/>
                </a:lnTo>
                <a:lnTo>
                  <a:pt x="1222260" y="198736"/>
                </a:lnTo>
                <a:lnTo>
                  <a:pt x="1290163" y="179591"/>
                </a:lnTo>
                <a:lnTo>
                  <a:pt x="1358067" y="162006"/>
                </a:lnTo>
                <a:lnTo>
                  <a:pt x="1425970" y="145854"/>
                </a:lnTo>
                <a:lnTo>
                  <a:pt x="1493873" y="131018"/>
                </a:lnTo>
                <a:lnTo>
                  <a:pt x="1561777" y="117391"/>
                </a:lnTo>
                <a:lnTo>
                  <a:pt x="1629680" y="104874"/>
                </a:lnTo>
                <a:lnTo>
                  <a:pt x="1697583" y="93377"/>
                </a:lnTo>
                <a:lnTo>
                  <a:pt x="1765487" y="82817"/>
                </a:lnTo>
                <a:lnTo>
                  <a:pt x="1833390" y="73118"/>
                </a:lnTo>
                <a:lnTo>
                  <a:pt x="1901293" y="64209"/>
                </a:lnTo>
                <a:lnTo>
                  <a:pt x="1969197" y="56026"/>
                </a:lnTo>
                <a:lnTo>
                  <a:pt x="2037100" y="48510"/>
                </a:lnTo>
                <a:lnTo>
                  <a:pt x="2105003" y="41606"/>
                </a:lnTo>
                <a:lnTo>
                  <a:pt x="2172907" y="35265"/>
                </a:lnTo>
                <a:lnTo>
                  <a:pt x="2240810" y="29441"/>
                </a:lnTo>
                <a:lnTo>
                  <a:pt x="2308713" y="24091"/>
                </a:lnTo>
                <a:lnTo>
                  <a:pt x="2376617" y="19177"/>
                </a:lnTo>
                <a:lnTo>
                  <a:pt x="2444520" y="14664"/>
                </a:lnTo>
                <a:lnTo>
                  <a:pt x="2512423" y="10518"/>
                </a:lnTo>
                <a:lnTo>
                  <a:pt x="2580327" y="6710"/>
                </a:lnTo>
                <a:lnTo>
                  <a:pt x="2648230" y="3213"/>
                </a:lnTo>
                <a:lnTo>
                  <a:pt x="2716133" y="0"/>
                </a:lnTo>
              </a:path>
            </a:pathLst>
          </a:custGeom>
          <a:noFill/>
          <a:ln w="349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203703"/>
            <a:ext cx="914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1" lang="pt-BR">
                <a:solidFill>
                  <a:srgbClr val="0B3658"/>
                </a:solidFill>
                <a:latin typeface="Calibri"/>
              </a:rPr>
              <a:t>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1874519"/>
            <a:ext cx="82296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reta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611880"/>
            <a:ext cx="2980944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Retornos decrescentes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59352"/>
            <a:ext cx="307238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Cada real a mais no valor do terreno acrescenta menos ao valor unitário do imóvel.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60020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654296" y="3291839"/>
            <a:ext cx="2889504" cy="0"/>
          </a:xfrm>
          <a:prstGeom prst="line">
            <a:avLst/>
          </a:prstGeom>
          <a:ln w="12700">
            <a:solidFill>
              <a:srgbClr val="5B6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654296" y="1874519"/>
            <a:ext cx="0" cy="1417320"/>
          </a:xfrm>
          <a:prstGeom prst="line">
            <a:avLst/>
          </a:prstGeom>
          <a:ln w="12700">
            <a:solidFill>
              <a:srgbClr val="5B6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54296" y="3328415"/>
            <a:ext cx="288950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atributo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1691639"/>
            <a:ext cx="10972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↑  valor por m²</a:t>
            </a:r>
          </a:p>
        </p:txBody>
      </p:sp>
      <p:sp>
        <p:nvSpPr>
          <p:cNvPr id="22" name="Freeform 21"/>
          <p:cNvSpPr/>
          <p:nvPr/>
        </p:nvSpPr>
        <p:spPr>
          <a:xfrm>
            <a:off x="4740981" y="1888693"/>
            <a:ext cx="2716133" cy="1261414"/>
          </a:xfrm>
          <a:custGeom>
            <a:avLst/>
            <a:gdLst/>
            <a:ahLst/>
            <a:cxnLst/>
            <a:rect l="l" t="t" r="r" b="b"/>
            <a:pathLst>
              <a:path w="2716133" h="1261414">
                <a:moveTo>
                  <a:pt x="0" y="1261414"/>
                </a:moveTo>
                <a:lnTo>
                  <a:pt x="2716133" y="0"/>
                </a:lnTo>
              </a:path>
            </a:pathLst>
          </a:custGeom>
          <a:noFill/>
          <a:ln w="22225" cap="rnd">
            <a:solidFill>
              <a:srgbClr val="A9B4C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740981" y="2187443"/>
            <a:ext cx="2716133" cy="1003981"/>
          </a:xfrm>
          <a:custGeom>
            <a:avLst/>
            <a:gdLst/>
            <a:ahLst/>
            <a:cxnLst/>
            <a:rect l="l" t="t" r="r" b="b"/>
            <a:pathLst>
              <a:path w="2716133" h="1003981">
                <a:moveTo>
                  <a:pt x="0" y="1003981"/>
                </a:moveTo>
                <a:lnTo>
                  <a:pt x="67903" y="999210"/>
                </a:lnTo>
                <a:lnTo>
                  <a:pt x="135806" y="992997"/>
                </a:lnTo>
                <a:lnTo>
                  <a:pt x="203710" y="984935"/>
                </a:lnTo>
                <a:lnTo>
                  <a:pt x="271613" y="974518"/>
                </a:lnTo>
                <a:lnTo>
                  <a:pt x="339516" y="961135"/>
                </a:lnTo>
                <a:lnTo>
                  <a:pt x="407420" y="944065"/>
                </a:lnTo>
                <a:lnTo>
                  <a:pt x="475323" y="922495"/>
                </a:lnTo>
                <a:lnTo>
                  <a:pt x="543226" y="895555"/>
                </a:lnTo>
                <a:lnTo>
                  <a:pt x="611130" y="862395"/>
                </a:lnTo>
                <a:lnTo>
                  <a:pt x="679033" y="822306"/>
                </a:lnTo>
                <a:lnTo>
                  <a:pt x="746936" y="774876"/>
                </a:lnTo>
                <a:lnTo>
                  <a:pt x="814840" y="720178"/>
                </a:lnTo>
                <a:lnTo>
                  <a:pt x="882743" y="658927"/>
                </a:lnTo>
                <a:lnTo>
                  <a:pt x="950646" y="592555"/>
                </a:lnTo>
                <a:lnTo>
                  <a:pt x="1018550" y="523150"/>
                </a:lnTo>
                <a:lnTo>
                  <a:pt x="1086453" y="453222"/>
                </a:lnTo>
                <a:lnTo>
                  <a:pt x="1154356" y="385356"/>
                </a:lnTo>
                <a:lnTo>
                  <a:pt x="1222260" y="321844"/>
                </a:lnTo>
                <a:lnTo>
                  <a:pt x="1290163" y="264399"/>
                </a:lnTo>
                <a:lnTo>
                  <a:pt x="1358067" y="214021"/>
                </a:lnTo>
                <a:lnTo>
                  <a:pt x="1425970" y="171021"/>
                </a:lnTo>
                <a:lnTo>
                  <a:pt x="1493873" y="135162"/>
                </a:lnTo>
                <a:lnTo>
                  <a:pt x="1561777" y="105832"/>
                </a:lnTo>
                <a:lnTo>
                  <a:pt x="1629680" y="82219"/>
                </a:lnTo>
                <a:lnTo>
                  <a:pt x="1697583" y="63451"/>
                </a:lnTo>
                <a:lnTo>
                  <a:pt x="1765487" y="48686"/>
                </a:lnTo>
                <a:lnTo>
                  <a:pt x="1833390" y="37162"/>
                </a:lnTo>
                <a:lnTo>
                  <a:pt x="1901293" y="28224"/>
                </a:lnTo>
                <a:lnTo>
                  <a:pt x="1969197" y="21326"/>
                </a:lnTo>
                <a:lnTo>
                  <a:pt x="2037100" y="16021"/>
                </a:lnTo>
                <a:lnTo>
                  <a:pt x="2105003" y="11954"/>
                </a:lnTo>
                <a:lnTo>
                  <a:pt x="2172907" y="8843"/>
                </a:lnTo>
                <a:lnTo>
                  <a:pt x="2240810" y="6467"/>
                </a:lnTo>
                <a:lnTo>
                  <a:pt x="2308713" y="4655"/>
                </a:lnTo>
                <a:lnTo>
                  <a:pt x="2376617" y="3274"/>
                </a:lnTo>
                <a:lnTo>
                  <a:pt x="2444520" y="2223"/>
                </a:lnTo>
                <a:lnTo>
                  <a:pt x="2512423" y="1423"/>
                </a:lnTo>
                <a:lnTo>
                  <a:pt x="2580327" y="814"/>
                </a:lnTo>
                <a:lnTo>
                  <a:pt x="2648230" y="352"/>
                </a:lnTo>
                <a:lnTo>
                  <a:pt x="2716133" y="0"/>
                </a:lnTo>
              </a:path>
            </a:pathLst>
          </a:custGeom>
          <a:noFill/>
          <a:ln w="349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267712"/>
            <a:ext cx="914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1" lang="pt-BR">
                <a:solidFill>
                  <a:srgbClr val="0B3658"/>
                </a:solidFill>
                <a:latin typeface="Calibri"/>
              </a:rPr>
              <a:t>mercado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874519"/>
            <a:ext cx="82296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reta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611880"/>
            <a:ext cx="2980944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Saturação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3959352"/>
            <a:ext cx="307238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 partir de certo ponto, acréscimos de um atributo já quase não alteram o valor.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160020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421624" y="3291839"/>
            <a:ext cx="2889504" cy="0"/>
          </a:xfrm>
          <a:prstGeom prst="line">
            <a:avLst/>
          </a:prstGeom>
          <a:ln w="12700">
            <a:solidFill>
              <a:srgbClr val="5B6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21624" y="1874519"/>
            <a:ext cx="0" cy="1417320"/>
          </a:xfrm>
          <a:prstGeom prst="line">
            <a:avLst/>
          </a:prstGeom>
          <a:ln w="12700">
            <a:solidFill>
              <a:srgbClr val="5B67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21624" y="3328415"/>
            <a:ext cx="288950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fator de obsolescência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1691639"/>
            <a:ext cx="10972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↑  valor por m²</a:t>
            </a:r>
          </a:p>
        </p:txBody>
      </p:sp>
      <p:sp>
        <p:nvSpPr>
          <p:cNvPr id="33" name="Freeform 32"/>
          <p:cNvSpPr/>
          <p:nvPr/>
        </p:nvSpPr>
        <p:spPr>
          <a:xfrm>
            <a:off x="8508309" y="2512313"/>
            <a:ext cx="2716133" cy="609448"/>
          </a:xfrm>
          <a:custGeom>
            <a:avLst/>
            <a:gdLst/>
            <a:ahLst/>
            <a:cxnLst/>
            <a:rect l="l" t="t" r="r" b="b"/>
            <a:pathLst>
              <a:path w="2716133" h="609448">
                <a:moveTo>
                  <a:pt x="0" y="609448"/>
                </a:moveTo>
                <a:lnTo>
                  <a:pt x="2716133" y="0"/>
                </a:lnTo>
              </a:path>
            </a:pathLst>
          </a:custGeom>
          <a:noFill/>
          <a:ln w="22225" cap="rnd">
            <a:solidFill>
              <a:srgbClr val="A9B4C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508309" y="1945385"/>
            <a:ext cx="2716133" cy="1176376"/>
          </a:xfrm>
          <a:custGeom>
            <a:avLst/>
            <a:gdLst/>
            <a:ahLst/>
            <a:cxnLst/>
            <a:rect l="l" t="t" r="r" b="b"/>
            <a:pathLst>
              <a:path w="2716133" h="1176376">
                <a:moveTo>
                  <a:pt x="0" y="1176376"/>
                </a:moveTo>
                <a:lnTo>
                  <a:pt x="2716133" y="0"/>
                </a:lnTo>
              </a:path>
            </a:pathLst>
          </a:custGeom>
          <a:noFill/>
          <a:ln w="349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8508309" y="2937509"/>
            <a:ext cx="2716133" cy="184252"/>
          </a:xfrm>
          <a:custGeom>
            <a:avLst/>
            <a:gdLst/>
            <a:ahLst/>
            <a:cxnLst/>
            <a:rect l="l" t="t" r="r" b="b"/>
            <a:pathLst>
              <a:path w="2716133" h="184252">
                <a:moveTo>
                  <a:pt x="0" y="184252"/>
                </a:moveTo>
                <a:lnTo>
                  <a:pt x="2716133" y="0"/>
                </a:lnTo>
              </a:path>
            </a:pathLst>
          </a:custGeom>
          <a:noFill/>
          <a:ln w="34925" cap="rnd">
            <a:solidFill>
              <a:srgbClr val="F0A8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1984248"/>
            <a:ext cx="118872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1" lang="pt-BR">
                <a:solidFill>
                  <a:srgbClr val="0B3658"/>
                </a:solidFill>
                <a:latin typeface="Calibri"/>
              </a:rPr>
              <a:t>padrão alto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2990087"/>
            <a:ext cx="118872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1" lang="pt-BR">
                <a:solidFill>
                  <a:srgbClr val="8A5F00"/>
                </a:solidFill>
                <a:latin typeface="Calibri"/>
              </a:rPr>
              <a:t>padrão baixo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6728" y="2304287"/>
            <a:ext cx="86868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reta única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3611880"/>
            <a:ext cx="2980944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Interações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959352"/>
            <a:ext cx="307238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O efeito da obsolescência depende do padrão construtivo: as variáveis não agem sozinhas.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001768"/>
            <a:ext cx="11064240" cy="1143000"/>
          </a:xfrm>
          <a:prstGeom prst="roundRect">
            <a:avLst>
              <a:gd name="adj" fmla="val 7199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5074920"/>
            <a:ext cx="1051560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No modelo linear, cada uma dessas formas precisa ser escolhida a priori</a:t>
            </a:r>
            <a:r>
              <a:rPr sz="1500" b="0" lang="pt-BR">
                <a:solidFill>
                  <a:srgbClr val="1F2A37"/>
                </a:solidFill>
                <a:latin typeface="Calibri"/>
              </a:rPr>
              <a:t> — logaritmo, Box–Cox, polinômios, termos de interação. E as hipóteses clássicas (linearidade, homocedasticidade, normalidade dos resíduos) raramente se sustentam em bases imobiliárias reais.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5852160"/>
            <a:ext cx="105156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0" lang="pt-BR">
                <a:solidFill>
                  <a:srgbClr val="5B6775"/>
                </a:solidFill>
                <a:latin typeface="Calibri"/>
              </a:rPr>
              <a:t>Malpezzi (2003); Goodman e Thibodeau (1998); Greene (2018); Wooldridge (2016)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1 · O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A rede neural aprende a curva — e vira caixa-preta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2240280" cy="420624"/>
          </a:xfrm>
          <a:prstGeom prst="roundRect">
            <a:avLst>
              <a:gd name="adj" fmla="val 47826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450" b="0" lang="pt-BR">
                <a:solidFill>
                  <a:srgbClr val="1F2A37"/>
                </a:solidFill>
                <a:latin typeface="Calibri"/>
              </a:rPr>
              <a:t>valor do terreno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71216" y="1856232"/>
            <a:ext cx="786384" cy="0"/>
          </a:xfrm>
          <a:prstGeom prst="line">
            <a:avLst/>
          </a:prstGeom>
          <a:ln w="1905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8" y="2171700"/>
            <a:ext cx="2240280" cy="420624"/>
          </a:xfrm>
          <a:prstGeom prst="roundRect">
            <a:avLst>
              <a:gd name="adj" fmla="val 47826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450" b="0" lang="pt-BR">
                <a:solidFill>
                  <a:srgbClr val="1F2A37"/>
                </a:solidFill>
                <a:latin typeface="Calibri"/>
              </a:rPr>
              <a:t>padrão construtivo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71216" y="2382012"/>
            <a:ext cx="786384" cy="0"/>
          </a:xfrm>
          <a:prstGeom prst="line">
            <a:avLst/>
          </a:prstGeom>
          <a:ln w="1905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2697480"/>
            <a:ext cx="2240280" cy="420624"/>
          </a:xfrm>
          <a:prstGeom prst="roundRect">
            <a:avLst>
              <a:gd name="adj" fmla="val 47826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450" b="0" lang="pt-BR">
                <a:solidFill>
                  <a:srgbClr val="1F2A37"/>
                </a:solidFill>
                <a:latin typeface="Calibri"/>
              </a:rPr>
              <a:t>obsolescência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71216" y="2907792"/>
            <a:ext cx="786384" cy="0"/>
          </a:xfrm>
          <a:prstGeom prst="line">
            <a:avLst/>
          </a:prstGeom>
          <a:ln w="1905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3223260"/>
            <a:ext cx="2240280" cy="420624"/>
          </a:xfrm>
          <a:prstGeom prst="roundRect">
            <a:avLst>
              <a:gd name="adj" fmla="val 47826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450" b="0" lang="pt-BR">
                <a:solidFill>
                  <a:srgbClr val="1F2A37"/>
                </a:solidFill>
                <a:latin typeface="Calibri"/>
              </a:rPr>
              <a:t>localização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71216" y="3433572"/>
            <a:ext cx="786384" cy="0"/>
          </a:xfrm>
          <a:prstGeom prst="line">
            <a:avLst/>
          </a:prstGeom>
          <a:ln w="1905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21608" y="1645920"/>
            <a:ext cx="3931920" cy="2002536"/>
          </a:xfrm>
          <a:prstGeom prst="roundRect">
            <a:avLst>
              <a:gd name="adj" fmla="val 6392"/>
            </a:avLst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1874519"/>
            <a:ext cx="3931920" cy="594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3400" b="1" lang="pt-BR">
                <a:solidFill>
                  <a:srgbClr val="FFFFFF"/>
                </a:solidFill>
                <a:latin typeface="Calibri"/>
              </a:rPr>
              <a:t>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606040"/>
            <a:ext cx="393192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50" b="0" lang="pt-BR">
                <a:solidFill>
                  <a:srgbClr val="D5DCE4"/>
                </a:solidFill>
                <a:latin typeface="Calibri"/>
              </a:rPr>
              <a:t>337 a 625 pesos e vieses</a:t>
            </a:r>
          </a:p>
          <a:p>
            <a:pPr algn="ctr">
              <a:buNone/>
            </a:pPr>
            <a:r>
              <a:rPr sz="1550" b="0" lang="pt-BR">
                <a:solidFill>
                  <a:srgbClr val="D5DCE4"/>
                </a:solidFill>
                <a:latin typeface="Calibri"/>
              </a:rPr>
              <a:t>nenhum com leitura econômica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7536" y="2651760"/>
            <a:ext cx="713232" cy="0"/>
          </a:xfrm>
          <a:prstGeom prst="line">
            <a:avLst/>
          </a:prstGeom>
          <a:ln w="2540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94776" y="2286000"/>
            <a:ext cx="14813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2200" b="1" lang="pt-BR">
                <a:solidFill>
                  <a:srgbClr val="0B3658"/>
                </a:solidFill>
                <a:latin typeface="Calibri"/>
              </a:rPr>
              <a:t>R$/m²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8" y="2103120"/>
            <a:ext cx="155448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3000" b="1" lang="pt-BR">
                <a:solidFill>
                  <a:srgbClr val="BB1F2C"/>
                </a:solidFill>
                <a:latin typeface="Calibri"/>
              </a:rPr>
              <a:t>por quê?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6688" y="2715768"/>
            <a:ext cx="15544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400" b="0" lang="pt-BR">
                <a:solidFill>
                  <a:srgbClr val="5B6775"/>
                </a:solidFill>
                <a:latin typeface="Calibri"/>
              </a:rPr>
              <a:t>sem resposta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931920"/>
            <a:ext cx="3529584" cy="2212848"/>
          </a:xfrm>
          <a:prstGeom prst="roundRect">
            <a:avLst>
              <a:gd name="adj" fmla="val 3719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096512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114800"/>
            <a:ext cx="252374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Laudos e perícias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663440"/>
            <a:ext cx="3026663" cy="1417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3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O valor precisa ser explicado, reproduzido e sustentado perante terceiros. “O algoritmo calculou” não é fundamentação.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4256" y="3931920"/>
            <a:ext cx="3529584" cy="2212848"/>
          </a:xfrm>
          <a:prstGeom prst="roundRect">
            <a:avLst>
              <a:gd name="adj" fmla="val 3719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0288" y="4096512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4114800"/>
            <a:ext cx="252374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Normas internacionais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4663440"/>
            <a:ext cx="3026663" cy="1417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3000"/>
              </a:lnSpc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IVSC (2025): </a:t>
            </a:r>
            <a:r>
              <a:rPr sz="1500" b="0" lang="pt-BR">
                <a:solidFill>
                  <a:srgbClr val="1F2A37"/>
                </a:solidFill>
                <a:latin typeface="Calibri"/>
              </a:rPr>
              <a:t>o AVM calcula o valor sem julgamento profissional sobre o modelo. Por essa definição, sozinho, não produz uma avaliação em conformidade com os IVS.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931920"/>
            <a:ext cx="3529584" cy="2212848"/>
          </a:xfrm>
          <a:prstGeom prst="roundRect">
            <a:avLst>
              <a:gd name="adj" fmla="val 3719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7615" y="4096512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1" y="4114800"/>
            <a:ext cx="252374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Decisões de alto risco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663440"/>
            <a:ext cx="3026663" cy="1417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3000"/>
              </a:lnSpc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Rudin (2019): </a:t>
            </a:r>
            <a:r>
              <a:rPr sz="1500" b="0" lang="pt-BR">
                <a:solidFill>
                  <a:srgbClr val="1F2A37"/>
                </a:solidFill>
                <a:latin typeface="Calibri"/>
              </a:rPr>
              <a:t>em vez de tentar explicar caixas-pretas, usar modelos inerentemente interpretáveis.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2 · A PROPOSTA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A proposta: a rede aprende, a equação explica, o avaliador decide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64792"/>
            <a:ext cx="206654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5B6775"/>
                </a:solidFill>
                <a:latin typeface="Calibri"/>
              </a:rPr>
              <a:t>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210312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950" b="1" lang="pt-BR">
                <a:solidFill>
                  <a:srgbClr val="0B3658"/>
                </a:solidFill>
                <a:latin typeface="Calibri"/>
              </a:rPr>
              <a:t>o mercado fala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06654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15.000 transações reais · 12 variáveis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0672" y="2542032"/>
            <a:ext cx="286207" cy="0"/>
          </a:xfrm>
          <a:prstGeom prst="line">
            <a:avLst/>
          </a:prstGeom>
          <a:ln w="2857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31743" y="1627632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2911" y="1764792"/>
            <a:ext cx="206654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F5C75C"/>
                </a:solidFill>
                <a:latin typeface="Calibri"/>
              </a:rPr>
              <a:t>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2911" y="2029968"/>
            <a:ext cx="210312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950" b="1" lang="pt-BR">
                <a:solidFill>
                  <a:srgbClr val="FFFFFF"/>
                </a:solidFill>
                <a:latin typeface="Calibri"/>
              </a:rPr>
              <a:t>a rede aprende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2911" y="2560320"/>
            <a:ext cx="206654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DCE6F0"/>
                </a:solidFill>
                <a:latin typeface="Calibri"/>
              </a:rPr>
              <a:t>capta não linearidades e interações, sem forma funcional imposta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5487" y="2542032"/>
            <a:ext cx="286207" cy="0"/>
          </a:xfrm>
          <a:prstGeom prst="line">
            <a:avLst/>
          </a:prstGeom>
          <a:ln w="2857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96558" y="1627632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F0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7726" y="1764792"/>
            <a:ext cx="206654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0B3658"/>
                </a:solidFill>
                <a:latin typeface="Calibri"/>
              </a:rPr>
              <a:t>REGRESSÃO SIMBÓLICA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7726" y="2029968"/>
            <a:ext cx="210312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950" b="1" lang="pt-BR">
                <a:solidFill>
                  <a:srgbClr val="0B3658"/>
                </a:solidFill>
                <a:latin typeface="Calibri"/>
              </a:rPr>
              <a:t>a equação explica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7726" y="2560320"/>
            <a:ext cx="206654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destila a rede em uma expressão algébrica fechada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0302" y="2542032"/>
            <a:ext cx="286207" cy="0"/>
          </a:xfrm>
          <a:prstGeom prst="line">
            <a:avLst/>
          </a:prstGeom>
          <a:ln w="2857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61373" y="1627632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2541" y="1764792"/>
            <a:ext cx="206654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BB1F2C"/>
                </a:solidFill>
                <a:latin typeface="Calibri"/>
              </a:rPr>
              <a:t>AVALIADOR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2541" y="2029968"/>
            <a:ext cx="210312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950" b="1" lang="pt-BR">
                <a:solidFill>
                  <a:srgbClr val="0B3658"/>
                </a:solidFill>
                <a:latin typeface="Calibri"/>
              </a:rPr>
              <a:t>o avaliador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2541" y="2560320"/>
            <a:ext cx="2066544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inspeciona, critica, valida e fundamenta o 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703320"/>
            <a:ext cx="1106424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Três perguntas de pesquisa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114800"/>
            <a:ext cx="3529584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8" y="4672584"/>
            <a:ext cx="457200" cy="45720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4224528"/>
            <a:ext cx="2432304" cy="1371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A KAN supera, em capacidade preditiva, o OLS e as MLP de profundidade semelhante?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4114800"/>
            <a:ext cx="3529584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62856" y="4672584"/>
            <a:ext cx="457200" cy="45720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2936" y="4224528"/>
            <a:ext cx="2432304" cy="1371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A destilação simbólica preserva o desempenho da rede, com perda controlada de fidelidade?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4114800"/>
            <a:ext cx="3529584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0183" y="4672584"/>
            <a:ext cx="457200" cy="45720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3" y="4224528"/>
            <a:ext cx="2432304" cy="1371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A equação destilada é não inferior ao OLS — oferecendo forma fechada e auditável?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806440"/>
            <a:ext cx="11064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50" b="0" i="1" lang="pt-BR">
                <a:solidFill>
                  <a:srgbClr val="5B6775"/>
                </a:solidFill>
                <a:latin typeface="Calibri"/>
              </a:rPr>
              <a:t>A terceira pergunta é, deliberadamente, uma hipótese de não inferioridade — e não de superioridade.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2 · A PROPOSTA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KAN: a não linearidade sai dos nós e vai para as arestas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413248" cy="3017520"/>
          </a:xfrm>
          <a:prstGeom prst="roundRect">
            <a:avLst>
              <a:gd name="adj" fmla="val 2727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4864608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1F2A37"/>
                </a:solidFill>
                <a:latin typeface="Calibri"/>
              </a:rPr>
              <a:t>MLP</a:t>
            </a:r>
            <a:r>
              <a:rPr sz="1450" b="0" lang="pt-BR">
                <a:solidFill>
                  <a:srgbClr val="5B6775"/>
                </a:solidFill>
                <a:latin typeface="Calibri"/>
              </a:rPr>
              <a:t>  ·  perceptron multicamadas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9848" y="2578608"/>
            <a:ext cx="1307592" cy="0"/>
          </a:xfrm>
          <a:prstGeom prst="line">
            <a:avLst/>
          </a:prstGeom>
          <a:ln w="15875">
            <a:solidFill>
              <a:srgbClr val="A9B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" y="2578608"/>
            <a:ext cx="1307592" cy="1280160"/>
          </a:xfrm>
          <a:prstGeom prst="line">
            <a:avLst/>
          </a:prstGeom>
          <a:ln w="15875">
            <a:solidFill>
              <a:srgbClr val="A9B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69848" y="2578608"/>
            <a:ext cx="1307592" cy="1280160"/>
          </a:xfrm>
          <a:prstGeom prst="line">
            <a:avLst/>
          </a:prstGeom>
          <a:ln w="15875">
            <a:solidFill>
              <a:srgbClr val="A9B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9848" y="3858768"/>
            <a:ext cx="1307592" cy="0"/>
          </a:xfrm>
          <a:prstGeom prst="line">
            <a:avLst/>
          </a:prstGeom>
          <a:ln w="15875">
            <a:solidFill>
              <a:srgbClr val="A9B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2578608"/>
            <a:ext cx="1115568" cy="640080"/>
          </a:xfrm>
          <a:prstGeom prst="line">
            <a:avLst/>
          </a:prstGeom>
          <a:ln w="15875">
            <a:solidFill>
              <a:srgbClr val="A9B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77440" y="3218688"/>
            <a:ext cx="1115568" cy="640080"/>
          </a:xfrm>
          <a:prstGeom prst="line">
            <a:avLst/>
          </a:prstGeom>
          <a:ln w="15875">
            <a:solidFill>
              <a:srgbClr val="A9B4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698955" y="2441448"/>
            <a:ext cx="310896" cy="274320"/>
          </a:xfrm>
          <a:prstGeom prst="ellipse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5B6775"/>
                </a:solidFill>
                <a:latin typeface="Cambria"/>
              </a:rPr>
              <a:t>w</a:t>
            </a:r>
          </a:p>
        </p:txBody>
      </p:sp>
      <p:sp>
        <p:nvSpPr>
          <p:cNvPr id="15" name="Oval 14"/>
          <p:cNvSpPr/>
          <p:nvPr/>
        </p:nvSpPr>
        <p:spPr>
          <a:xfrm>
            <a:off x="1267449" y="2787091"/>
            <a:ext cx="310896" cy="274320"/>
          </a:xfrm>
          <a:prstGeom prst="ellipse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5B6775"/>
                </a:solidFill>
                <a:latin typeface="Cambria"/>
              </a:rPr>
              <a:t>w</a:t>
            </a:r>
          </a:p>
        </p:txBody>
      </p:sp>
      <p:sp>
        <p:nvSpPr>
          <p:cNvPr id="16" name="Oval 15"/>
          <p:cNvSpPr/>
          <p:nvPr/>
        </p:nvSpPr>
        <p:spPr>
          <a:xfrm>
            <a:off x="1267449" y="3375964"/>
            <a:ext cx="310896" cy="274320"/>
          </a:xfrm>
          <a:prstGeom prst="ellipse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5B6775"/>
                </a:solidFill>
                <a:latin typeface="Cambria"/>
              </a:rPr>
              <a:t>w</a:t>
            </a:r>
          </a:p>
        </p:txBody>
      </p:sp>
      <p:sp>
        <p:nvSpPr>
          <p:cNvPr id="17" name="Oval 16"/>
          <p:cNvSpPr/>
          <p:nvPr/>
        </p:nvSpPr>
        <p:spPr>
          <a:xfrm>
            <a:off x="1698955" y="3721607"/>
            <a:ext cx="310896" cy="274320"/>
          </a:xfrm>
          <a:prstGeom prst="ellipse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5B6775"/>
                </a:solidFill>
                <a:latin typeface="Cambria"/>
              </a:rPr>
              <a:t>w</a:t>
            </a:r>
          </a:p>
        </p:txBody>
      </p:sp>
      <p:sp>
        <p:nvSpPr>
          <p:cNvPr id="18" name="Oval 17"/>
          <p:cNvSpPr/>
          <p:nvPr/>
        </p:nvSpPr>
        <p:spPr>
          <a:xfrm>
            <a:off x="2779776" y="2761488"/>
            <a:ext cx="310896" cy="274320"/>
          </a:xfrm>
          <a:prstGeom prst="ellipse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5B6775"/>
                </a:solidFill>
                <a:latin typeface="Cambria"/>
              </a:rPr>
              <a:t>w</a:t>
            </a:r>
          </a:p>
        </p:txBody>
      </p:sp>
      <p:sp>
        <p:nvSpPr>
          <p:cNvPr id="19" name="Oval 18"/>
          <p:cNvSpPr/>
          <p:nvPr/>
        </p:nvSpPr>
        <p:spPr>
          <a:xfrm>
            <a:off x="2779776" y="3401568"/>
            <a:ext cx="310896" cy="274320"/>
          </a:xfrm>
          <a:prstGeom prst="ellipse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5B6775"/>
                </a:solidFill>
                <a:latin typeface="Cambria"/>
              </a:rPr>
              <a:t>w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4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400" b="0" lang="pt-BR" baseline="-25000">
                <a:solidFill>
                  <a:srgbClr val="1F2A37"/>
                </a:solidFill>
                <a:latin typeface="Cambria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" y="3639311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7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4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400" b="0" lang="pt-BR" baseline="-25000">
                <a:solidFill>
                  <a:srgbClr val="1F2A37"/>
                </a:solidFill>
                <a:latin typeface="Cambria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093976" y="2295144"/>
            <a:ext cx="566928" cy="566928"/>
          </a:xfrm>
          <a:prstGeom prst="ellipse">
            <a:avLst/>
          </a:prstGeom>
          <a:solidFill>
            <a:srgbClr val="4A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203704" y="2450591"/>
            <a:ext cx="338328" cy="219457"/>
          </a:xfrm>
          <a:custGeom>
            <a:avLst/>
            <a:gdLst/>
            <a:ahLst/>
            <a:cxnLst/>
            <a:rect l="l" t="t" r="r" b="b"/>
            <a:pathLst>
              <a:path w="338328" h="219457">
                <a:moveTo>
                  <a:pt x="0" y="219457"/>
                </a:moveTo>
                <a:lnTo>
                  <a:pt x="155448" y="219457"/>
                </a:lnTo>
                <a:lnTo>
                  <a:pt x="338328" y="0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93976" y="3575303"/>
            <a:ext cx="566928" cy="566928"/>
          </a:xfrm>
          <a:prstGeom prst="ellipse">
            <a:avLst/>
          </a:prstGeom>
          <a:solidFill>
            <a:srgbClr val="4A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203704" y="3730752"/>
            <a:ext cx="338328" cy="219455"/>
          </a:xfrm>
          <a:custGeom>
            <a:avLst/>
            <a:gdLst/>
            <a:ahLst/>
            <a:cxnLst/>
            <a:rect l="l" t="t" r="r" b="b"/>
            <a:pathLst>
              <a:path w="338328" h="219455">
                <a:moveTo>
                  <a:pt x="0" y="219455"/>
                </a:moveTo>
                <a:lnTo>
                  <a:pt x="155448" y="219455"/>
                </a:lnTo>
                <a:lnTo>
                  <a:pt x="338328" y="0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09544" y="2935224"/>
            <a:ext cx="566928" cy="566928"/>
          </a:xfrm>
          <a:prstGeom prst="ellipse">
            <a:avLst/>
          </a:prstGeom>
          <a:solidFill>
            <a:srgbClr val="4A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700" b="1" i="1" lang="pt-BR">
                <a:solidFill>
                  <a:srgbClr val="FFFFFF"/>
                </a:solidFill>
                <a:latin typeface="Cambria"/>
              </a:rPr>
              <a:t>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212848"/>
            <a:ext cx="1517904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00" b="1" lang="pt-BR" spc="100">
                <a:solidFill>
                  <a:srgbClr val="5B6775"/>
                </a:solidFill>
                <a:latin typeface="Calibri"/>
              </a:rPr>
              <a:t>ARESTAS</a:t>
            </a:r>
          </a:p>
          <a:p>
            <a:pPr algn="l">
              <a:lnSpc>
                <a:spcPct val="98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pesos: apenas números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999232"/>
            <a:ext cx="1517904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00" b="1" lang="pt-BR" spc="100">
                <a:solidFill>
                  <a:srgbClr val="5B6775"/>
                </a:solidFill>
                <a:latin typeface="Calibri"/>
              </a:rPr>
              <a:t>NÓS</a:t>
            </a:r>
          </a:p>
          <a:p>
            <a:pPr algn="l">
              <a:lnSpc>
                <a:spcPct val="98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ativação fixa (ReLU)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785615"/>
            <a:ext cx="1517904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00" b="1" lang="pt-BR" spc="100">
                <a:solidFill>
                  <a:srgbClr val="5B6775"/>
                </a:solidFill>
                <a:latin typeface="Calibri"/>
              </a:rPr>
              <a:t>FORMA</a:t>
            </a:r>
          </a:p>
          <a:p>
            <a:pPr algn="l">
              <a:lnSpc>
                <a:spcPct val="98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implícita, sem leitura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600200"/>
            <a:ext cx="5413248" cy="3017520"/>
          </a:xfrm>
          <a:prstGeom prst="roundRect">
            <a:avLst>
              <a:gd name="adj" fmla="val 2727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719072"/>
            <a:ext cx="4864608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KAN</a:t>
            </a:r>
            <a:r>
              <a:rPr sz="1450" b="0" lang="pt-BR">
                <a:solidFill>
                  <a:srgbClr val="5B6775"/>
                </a:solidFill>
                <a:latin typeface="Calibri"/>
              </a:rPr>
              <a:t>  ·  rede Kolmogorov–Arnold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20840" y="2578608"/>
            <a:ext cx="1307591" cy="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0840" y="2578608"/>
            <a:ext cx="1307591" cy="128016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720840" y="2578608"/>
            <a:ext cx="1307591" cy="128016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20840" y="3858768"/>
            <a:ext cx="1307591" cy="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28431" y="2578608"/>
            <a:ext cx="1115569" cy="64008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028431" y="3218688"/>
            <a:ext cx="1115569" cy="64008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295083" y="2427732"/>
            <a:ext cx="420624" cy="30175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349947" y="2482596"/>
            <a:ext cx="310896" cy="192024"/>
          </a:xfrm>
          <a:custGeom>
            <a:avLst/>
            <a:gdLst/>
            <a:ahLst/>
            <a:cxnLst/>
            <a:rect l="l" t="t" r="r" b="b"/>
            <a:pathLst>
              <a:path w="310896" h="192024">
                <a:moveTo>
                  <a:pt x="0" y="192024"/>
                </a:moveTo>
                <a:lnTo>
                  <a:pt x="22207" y="151120"/>
                </a:lnTo>
                <a:lnTo>
                  <a:pt x="44413" y="118574"/>
                </a:lnTo>
                <a:lnTo>
                  <a:pt x="66620" y="92678"/>
                </a:lnTo>
                <a:lnTo>
                  <a:pt x="88827" y="72074"/>
                </a:lnTo>
                <a:lnTo>
                  <a:pt x="111034" y="55680"/>
                </a:lnTo>
                <a:lnTo>
                  <a:pt x="133241" y="42635"/>
                </a:lnTo>
                <a:lnTo>
                  <a:pt x="155448" y="32256"/>
                </a:lnTo>
                <a:lnTo>
                  <a:pt x="177655" y="23998"/>
                </a:lnTo>
                <a:lnTo>
                  <a:pt x="199861" y="17427"/>
                </a:lnTo>
                <a:lnTo>
                  <a:pt x="222068" y="12199"/>
                </a:lnTo>
                <a:lnTo>
                  <a:pt x="244275" y="8039"/>
                </a:lnTo>
                <a:lnTo>
                  <a:pt x="266482" y="4729"/>
                </a:lnTo>
                <a:lnTo>
                  <a:pt x="288689" y="2095"/>
                </a:lnTo>
                <a:lnTo>
                  <a:pt x="310896" y="0"/>
                </a:lnTo>
              </a:path>
            </a:pathLst>
          </a:custGeom>
          <a:noFill/>
          <a:ln w="222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63577" y="2773375"/>
            <a:ext cx="420624" cy="30175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918441" y="2828239"/>
            <a:ext cx="310896" cy="192024"/>
          </a:xfrm>
          <a:custGeom>
            <a:avLst/>
            <a:gdLst/>
            <a:ahLst/>
            <a:cxnLst/>
            <a:rect l="l" t="t" r="r" b="b"/>
            <a:pathLst>
              <a:path w="310896" h="192024">
                <a:moveTo>
                  <a:pt x="0" y="192024"/>
                </a:moveTo>
                <a:lnTo>
                  <a:pt x="22207" y="190118"/>
                </a:lnTo>
                <a:lnTo>
                  <a:pt x="44414" y="186596"/>
                </a:lnTo>
                <a:lnTo>
                  <a:pt x="66621" y="180241"/>
                </a:lnTo>
                <a:lnTo>
                  <a:pt x="88828" y="169264"/>
                </a:lnTo>
                <a:lnTo>
                  <a:pt x="111035" y="151658"/>
                </a:lnTo>
                <a:lnTo>
                  <a:pt x="133241" y="126522"/>
                </a:lnTo>
                <a:lnTo>
                  <a:pt x="155448" y="96012"/>
                </a:lnTo>
                <a:lnTo>
                  <a:pt x="177655" y="65501"/>
                </a:lnTo>
                <a:lnTo>
                  <a:pt x="199862" y="40365"/>
                </a:lnTo>
                <a:lnTo>
                  <a:pt x="222069" y="22760"/>
                </a:lnTo>
                <a:lnTo>
                  <a:pt x="244276" y="11783"/>
                </a:lnTo>
                <a:lnTo>
                  <a:pt x="266483" y="5427"/>
                </a:lnTo>
                <a:lnTo>
                  <a:pt x="288689" y="1905"/>
                </a:lnTo>
                <a:lnTo>
                  <a:pt x="310896" y="0"/>
                </a:lnTo>
              </a:path>
            </a:pathLst>
          </a:custGeom>
          <a:noFill/>
          <a:ln w="222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863577" y="3362248"/>
            <a:ext cx="420624" cy="30175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918441" y="3417112"/>
            <a:ext cx="310896" cy="192024"/>
          </a:xfrm>
          <a:custGeom>
            <a:avLst/>
            <a:gdLst/>
            <a:ahLst/>
            <a:cxnLst/>
            <a:rect l="l" t="t" r="r" b="b"/>
            <a:pathLst>
              <a:path w="310896" h="192024">
                <a:moveTo>
                  <a:pt x="0" y="0"/>
                </a:moveTo>
                <a:lnTo>
                  <a:pt x="22207" y="2163"/>
                </a:lnTo>
                <a:lnTo>
                  <a:pt x="44414" y="7026"/>
                </a:lnTo>
                <a:lnTo>
                  <a:pt x="66621" y="13998"/>
                </a:lnTo>
                <a:lnTo>
                  <a:pt x="88828" y="22827"/>
                </a:lnTo>
                <a:lnTo>
                  <a:pt x="111035" y="33357"/>
                </a:lnTo>
                <a:lnTo>
                  <a:pt x="133241" y="45478"/>
                </a:lnTo>
                <a:lnTo>
                  <a:pt x="155448" y="59103"/>
                </a:lnTo>
                <a:lnTo>
                  <a:pt x="177655" y="74164"/>
                </a:lnTo>
                <a:lnTo>
                  <a:pt x="199862" y="90605"/>
                </a:lnTo>
                <a:lnTo>
                  <a:pt x="222069" y="108377"/>
                </a:lnTo>
                <a:lnTo>
                  <a:pt x="244276" y="127440"/>
                </a:lnTo>
                <a:lnTo>
                  <a:pt x="266483" y="147757"/>
                </a:lnTo>
                <a:lnTo>
                  <a:pt x="288689" y="169294"/>
                </a:lnTo>
                <a:lnTo>
                  <a:pt x="310896" y="192024"/>
                </a:lnTo>
              </a:path>
            </a:pathLst>
          </a:custGeom>
          <a:noFill/>
          <a:ln w="222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295083" y="3707891"/>
            <a:ext cx="420624" cy="30175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349947" y="3762756"/>
            <a:ext cx="310896" cy="192024"/>
          </a:xfrm>
          <a:custGeom>
            <a:avLst/>
            <a:gdLst/>
            <a:ahLst/>
            <a:cxnLst/>
            <a:rect l="l" t="t" r="r" b="b"/>
            <a:pathLst>
              <a:path w="310896" h="192024">
                <a:moveTo>
                  <a:pt x="0" y="192024"/>
                </a:moveTo>
                <a:lnTo>
                  <a:pt x="22207" y="191446"/>
                </a:lnTo>
                <a:lnTo>
                  <a:pt x="44413" y="189368"/>
                </a:lnTo>
                <a:lnTo>
                  <a:pt x="66620" y="185544"/>
                </a:lnTo>
                <a:lnTo>
                  <a:pt x="88827" y="179822"/>
                </a:lnTo>
                <a:lnTo>
                  <a:pt x="111034" y="172089"/>
                </a:lnTo>
                <a:lnTo>
                  <a:pt x="133241" y="162252"/>
                </a:lnTo>
                <a:lnTo>
                  <a:pt x="155448" y="150232"/>
                </a:lnTo>
                <a:lnTo>
                  <a:pt x="177655" y="135961"/>
                </a:lnTo>
                <a:lnTo>
                  <a:pt x="199861" y="119378"/>
                </a:lnTo>
                <a:lnTo>
                  <a:pt x="222068" y="100428"/>
                </a:lnTo>
                <a:lnTo>
                  <a:pt x="244275" y="79060"/>
                </a:lnTo>
                <a:lnTo>
                  <a:pt x="266482" y="55228"/>
                </a:lnTo>
                <a:lnTo>
                  <a:pt x="288689" y="28888"/>
                </a:lnTo>
                <a:lnTo>
                  <a:pt x="310896" y="0"/>
                </a:lnTo>
              </a:path>
            </a:pathLst>
          </a:custGeom>
          <a:noFill/>
          <a:ln w="22225" cap="rnd">
            <a:solidFill>
              <a:srgbClr val="0B365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75904" y="2747772"/>
            <a:ext cx="420624" cy="30175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430768" y="2802636"/>
            <a:ext cx="310896" cy="192024"/>
          </a:xfrm>
          <a:custGeom>
            <a:avLst/>
            <a:gdLst/>
            <a:ahLst/>
            <a:cxnLst/>
            <a:rect l="l" t="t" r="r" b="b"/>
            <a:pathLst>
              <a:path w="310896" h="192024">
                <a:moveTo>
                  <a:pt x="0" y="192024"/>
                </a:moveTo>
                <a:lnTo>
                  <a:pt x="22206" y="140703"/>
                </a:lnTo>
                <a:lnTo>
                  <a:pt x="44413" y="119445"/>
                </a:lnTo>
                <a:lnTo>
                  <a:pt x="66620" y="103134"/>
                </a:lnTo>
                <a:lnTo>
                  <a:pt x="88827" y="89382"/>
                </a:lnTo>
                <a:lnTo>
                  <a:pt x="111034" y="77267"/>
                </a:lnTo>
                <a:lnTo>
                  <a:pt x="133241" y="66314"/>
                </a:lnTo>
                <a:lnTo>
                  <a:pt x="155448" y="56242"/>
                </a:lnTo>
                <a:lnTo>
                  <a:pt x="177654" y="46867"/>
                </a:lnTo>
                <a:lnTo>
                  <a:pt x="199861" y="38062"/>
                </a:lnTo>
                <a:lnTo>
                  <a:pt x="222068" y="29734"/>
                </a:lnTo>
                <a:lnTo>
                  <a:pt x="244275" y="21812"/>
                </a:lnTo>
                <a:lnTo>
                  <a:pt x="266482" y="14244"/>
                </a:lnTo>
                <a:lnTo>
                  <a:pt x="288689" y="6985"/>
                </a:lnTo>
                <a:lnTo>
                  <a:pt x="310896" y="0"/>
                </a:lnTo>
              </a:path>
            </a:pathLst>
          </a:custGeom>
          <a:noFill/>
          <a:ln w="22225" cap="rnd">
            <a:solidFill>
              <a:srgbClr val="8A5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75904" y="3387852"/>
            <a:ext cx="420624" cy="30175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430768" y="3442716"/>
            <a:ext cx="310896" cy="192024"/>
          </a:xfrm>
          <a:custGeom>
            <a:avLst/>
            <a:gdLst/>
            <a:ahLst/>
            <a:cxnLst/>
            <a:rect l="l" t="t" r="r" b="b"/>
            <a:pathLst>
              <a:path w="310896" h="192024">
                <a:moveTo>
                  <a:pt x="0" y="192024"/>
                </a:moveTo>
                <a:lnTo>
                  <a:pt x="22206" y="185856"/>
                </a:lnTo>
                <a:lnTo>
                  <a:pt x="44413" y="176495"/>
                </a:lnTo>
                <a:lnTo>
                  <a:pt x="66620" y="162930"/>
                </a:lnTo>
                <a:lnTo>
                  <a:pt x="88827" y="144536"/>
                </a:lnTo>
                <a:lnTo>
                  <a:pt x="111034" y="121719"/>
                </a:lnTo>
                <a:lnTo>
                  <a:pt x="133241" y="96347"/>
                </a:lnTo>
                <a:lnTo>
                  <a:pt x="155448" y="71345"/>
                </a:lnTo>
                <a:lnTo>
                  <a:pt x="177654" y="49476"/>
                </a:lnTo>
                <a:lnTo>
                  <a:pt x="199861" y="32254"/>
                </a:lnTo>
                <a:lnTo>
                  <a:pt x="222068" y="19780"/>
                </a:lnTo>
                <a:lnTo>
                  <a:pt x="244275" y="11280"/>
                </a:lnTo>
                <a:lnTo>
                  <a:pt x="266482" y="5729"/>
                </a:lnTo>
                <a:lnTo>
                  <a:pt x="288689" y="2201"/>
                </a:lnTo>
                <a:lnTo>
                  <a:pt x="310896" y="0"/>
                </a:lnTo>
              </a:path>
            </a:pathLst>
          </a:custGeom>
          <a:noFill/>
          <a:ln w="22225" cap="rnd">
            <a:solidFill>
              <a:srgbClr val="8A5F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01383" y="2359152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4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400" b="0" lang="pt-BR" baseline="-25000">
                <a:solidFill>
                  <a:srgbClr val="1F2A37"/>
                </a:solidFill>
                <a:latin typeface="Cambria"/>
              </a:rPr>
              <a:t>1</a:t>
            </a:r>
          </a:p>
        </p:txBody>
      </p:sp>
      <p:sp>
        <p:nvSpPr>
          <p:cNvPr id="51" name="Oval 50"/>
          <p:cNvSpPr/>
          <p:nvPr/>
        </p:nvSpPr>
        <p:spPr>
          <a:xfrm>
            <a:off x="6501383" y="3639311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4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400" b="0" lang="pt-BR" baseline="-25000">
                <a:solidFill>
                  <a:srgbClr val="1F2A37"/>
                </a:solidFill>
                <a:latin typeface="Cambria"/>
              </a:rPr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7744967" y="229514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800" b="1" lang="pt-BR">
                <a:solidFill>
                  <a:srgbClr val="0B3658"/>
                </a:solidFill>
                <a:latin typeface="Cambria"/>
              </a:rPr>
              <a:t>Σ</a:t>
            </a:r>
          </a:p>
        </p:txBody>
      </p:sp>
      <p:sp>
        <p:nvSpPr>
          <p:cNvPr id="53" name="Oval 52"/>
          <p:cNvSpPr/>
          <p:nvPr/>
        </p:nvSpPr>
        <p:spPr>
          <a:xfrm>
            <a:off x="7744967" y="3575303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800" b="1" lang="pt-BR">
                <a:solidFill>
                  <a:srgbClr val="0B3658"/>
                </a:solidFill>
                <a:latin typeface="Cambria"/>
              </a:rPr>
              <a:t>Σ</a:t>
            </a:r>
          </a:p>
        </p:txBody>
      </p:sp>
      <p:sp>
        <p:nvSpPr>
          <p:cNvPr id="54" name="Oval 53"/>
          <p:cNvSpPr/>
          <p:nvPr/>
        </p:nvSpPr>
        <p:spPr>
          <a:xfrm>
            <a:off x="8860536" y="29352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800" b="1" lang="pt-BR">
                <a:solidFill>
                  <a:srgbClr val="0B3658"/>
                </a:solidFill>
                <a:latin typeface="Cambria"/>
              </a:rPr>
              <a:t>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82328" y="3035808"/>
            <a:ext cx="32004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i="1" lang="pt-BR">
                <a:solidFill>
                  <a:srgbClr val="0B3658"/>
                </a:solidFill>
                <a:latin typeface="Cambria"/>
              </a:rPr>
              <a:t>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2212848"/>
            <a:ext cx="1517904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00" b="1" lang="pt-BR" spc="100">
                <a:solidFill>
                  <a:srgbClr val="0B3658"/>
                </a:solidFill>
                <a:latin typeface="Calibri"/>
              </a:rPr>
              <a:t>ARESTAS</a:t>
            </a:r>
          </a:p>
          <a:p>
            <a:pPr algn="l">
              <a:lnSpc>
                <a:spcPct val="98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funções aprendidas: B-splines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8672" y="2999232"/>
            <a:ext cx="1517904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00" b="1" lang="pt-BR" spc="100">
                <a:solidFill>
                  <a:srgbClr val="0B3658"/>
                </a:solidFill>
                <a:latin typeface="Calibri"/>
              </a:rPr>
              <a:t>NÓS</a:t>
            </a:r>
          </a:p>
          <a:p>
            <a:pPr algn="l">
              <a:lnSpc>
                <a:spcPct val="98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apenas somam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8672" y="3785615"/>
            <a:ext cx="1517904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00" b="1" lang="pt-BR" spc="100">
                <a:solidFill>
                  <a:srgbClr val="0B3658"/>
                </a:solidFill>
                <a:latin typeface="Calibri"/>
              </a:rPr>
              <a:t>FORMA</a:t>
            </a:r>
          </a:p>
          <a:p>
            <a:pPr algn="l">
              <a:lnSpc>
                <a:spcPct val="98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cada curva é visível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4782312"/>
            <a:ext cx="3529584" cy="1362456"/>
          </a:xfrm>
          <a:prstGeom prst="roundRect">
            <a:avLst>
              <a:gd name="adj" fmla="val 604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8" y="4873752"/>
            <a:ext cx="307238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O teorema de Kolmogorov–Arnold (1957)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5175504"/>
            <a:ext cx="3118103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Toda função contínua de várias variáveis pode ser escrita com somas e composições de funções de uma só variável.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34256" y="4782312"/>
            <a:ext cx="3529584" cy="1362456"/>
          </a:xfrm>
          <a:prstGeom prst="roundRect">
            <a:avLst>
              <a:gd name="adj" fmla="val 604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62856" y="4873752"/>
            <a:ext cx="307238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A ponte com o modelo hedônico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62856" y="5175504"/>
            <a:ext cx="3118103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Cada aresta pode ser lida como a curva de efeito marginal de uma variável — sem impor a forma funcional.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01583" y="4782312"/>
            <a:ext cx="3529584" cy="1362456"/>
          </a:xfrm>
          <a:prstGeom prst="roundRect">
            <a:avLst>
              <a:gd name="adj" fmla="val 604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0183" y="4873752"/>
            <a:ext cx="307238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Neste estudo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0183" y="5175504"/>
            <a:ext cx="3118103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Arquitetura [12 → 6 → 1]: 78 B-splines cúbicas, grade de 10 intervalos, ≈ 1.014 parâmetros.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2 · A PROPOSTA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Regressão simbólica: buscar a forma, não só os coeficientes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429000" cy="1947672"/>
          </a:xfrm>
          <a:prstGeom prst="roundRect">
            <a:avLst>
              <a:gd name="adj" fmla="val 4225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00784"/>
            <a:ext cx="29718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5B6775"/>
                </a:solidFill>
                <a:latin typeface="Calibri"/>
              </a:rPr>
              <a:t>REGRESSÃO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75104"/>
            <a:ext cx="2971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A forma é dada.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77440"/>
            <a:ext cx="29718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0" i="1" lang="pt-BR">
                <a:solidFill>
                  <a:srgbClr val="1F2A37"/>
                </a:solidFill>
                <a:latin typeface="Cambria"/>
              </a:rPr>
              <a:t>y = β</a:t>
            </a:r>
            <a:r>
              <a:rPr sz="1800" b="0" lang="pt-BR" baseline="-25000">
                <a:solidFill>
                  <a:srgbClr val="1F2A37"/>
                </a:solidFill>
                <a:latin typeface="Cambria"/>
              </a:rPr>
              <a:t>0</a:t>
            </a:r>
            <a:r>
              <a:rPr sz="1800" b="0" i="1" lang="pt-BR">
                <a:solidFill>
                  <a:srgbClr val="1F2A37"/>
                </a:solidFill>
                <a:latin typeface="Cambria"/>
              </a:rPr>
              <a:t> + β</a:t>
            </a:r>
            <a:r>
              <a:rPr sz="1800" b="0" lang="pt-BR" baseline="-25000">
                <a:solidFill>
                  <a:srgbClr val="1F2A37"/>
                </a:solidFill>
                <a:latin typeface="Cambria"/>
              </a:rPr>
              <a:t>1</a:t>
            </a:r>
            <a:r>
              <a:rPr sz="18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800" b="0" lang="pt-BR" baseline="-25000">
                <a:solidFill>
                  <a:srgbClr val="1F2A37"/>
                </a:solidFill>
                <a:latin typeface="Cambria"/>
              </a:rPr>
              <a:t>1</a:t>
            </a:r>
            <a:r>
              <a:rPr sz="1800" b="0" i="1" lang="pt-BR">
                <a:solidFill>
                  <a:srgbClr val="1F2A37"/>
                </a:solidFill>
                <a:latin typeface="Cambria"/>
              </a:rPr>
              <a:t> + β</a:t>
            </a:r>
            <a:r>
              <a:rPr sz="1800" b="0" lang="pt-BR" baseline="-25000">
                <a:solidFill>
                  <a:srgbClr val="1F2A37"/>
                </a:solidFill>
                <a:latin typeface="Cambria"/>
              </a:rPr>
              <a:t>2</a:t>
            </a:r>
            <a:r>
              <a:rPr sz="18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800" b="0" lang="pt-BR" baseline="-25000">
                <a:solidFill>
                  <a:srgbClr val="1F2A37"/>
                </a:solidFill>
                <a:latin typeface="Cambria"/>
              </a:rPr>
              <a:t>2</a:t>
            </a:r>
            <a:r>
              <a:rPr sz="1800" b="0" lang="pt-BR">
                <a:solidFill>
                  <a:srgbClr val="1F2A37"/>
                </a:solidFill>
                <a:latin typeface="Cambria"/>
              </a:rPr>
              <a:t> +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71216"/>
            <a:ext cx="2971800" cy="594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50" b="0" lang="pt-BR">
                <a:solidFill>
                  <a:srgbClr val="1F2A37"/>
                </a:solidFill>
                <a:latin typeface="Calibri"/>
              </a:rPr>
              <a:t>Estimam-se apenas os coeficientes.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12463"/>
            <a:ext cx="3429000" cy="1947672"/>
          </a:xfrm>
          <a:prstGeom prst="roundRect">
            <a:avLst>
              <a:gd name="adj" fmla="val 4225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813048"/>
            <a:ext cx="29718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8A5F00"/>
                </a:solidFill>
                <a:latin typeface="Calibri"/>
              </a:rPr>
              <a:t>REGRESSÃO SIMBÓLICA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087368"/>
            <a:ext cx="2971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A forma é a incógnita.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489704"/>
            <a:ext cx="29718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800" b="0" i="1" lang="pt-BR">
                <a:solidFill>
                  <a:srgbClr val="1F2A37"/>
                </a:solidFill>
                <a:latin typeface="Cambria"/>
              </a:rPr>
              <a:t>y = f </a:t>
            </a:r>
            <a:r>
              <a:rPr sz="1800" b="1" lang="pt-BR">
                <a:solidFill>
                  <a:srgbClr val="8A5F00"/>
                </a:solidFill>
                <a:latin typeface="Cambria"/>
              </a:rPr>
              <a:t>( ?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965192"/>
            <a:ext cx="297180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50" b="0" lang="pt-BR">
                <a:solidFill>
                  <a:srgbClr val="1F2A37"/>
                </a:solidFill>
                <a:latin typeface="Calibri"/>
              </a:rPr>
              <a:t>Buscam-se as operações, as variáveis e as constantes.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627632"/>
            <a:ext cx="38404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Cada equação candidata é uma árvore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230368" y="2395728"/>
            <a:ext cx="914400" cy="91440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44768" y="2395728"/>
            <a:ext cx="914400" cy="91440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30368" y="3310128"/>
            <a:ext cx="0" cy="91440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556248" y="3310128"/>
            <a:ext cx="502920" cy="91440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59168" y="3310128"/>
            <a:ext cx="502920" cy="914400"/>
          </a:xfrm>
          <a:prstGeom prst="line">
            <a:avLst/>
          </a:prstGeom>
          <a:ln w="19050">
            <a:solidFill>
              <a:srgbClr val="0B36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870448" y="2121408"/>
            <a:ext cx="548640" cy="54864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900" b="1" lang="pt-BR">
                <a:solidFill>
                  <a:srgbClr val="FFFFFF"/>
                </a:solidFill>
                <a:latin typeface="Cambria"/>
              </a:rPr>
              <a:t>+</a:t>
            </a:r>
          </a:p>
        </p:txBody>
      </p:sp>
      <p:sp>
        <p:nvSpPr>
          <p:cNvPr id="23" name="Oval 22"/>
          <p:cNvSpPr/>
          <p:nvPr/>
        </p:nvSpPr>
        <p:spPr>
          <a:xfrm>
            <a:off x="4956048" y="3035808"/>
            <a:ext cx="548640" cy="54864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900" b="1" lang="pt-BR">
                <a:solidFill>
                  <a:srgbClr val="FFFFFF"/>
                </a:solidFill>
                <a:latin typeface="Cambria"/>
              </a:rPr>
              <a:t>√</a:t>
            </a:r>
          </a:p>
        </p:txBody>
      </p:sp>
      <p:sp>
        <p:nvSpPr>
          <p:cNvPr id="24" name="Oval 23"/>
          <p:cNvSpPr/>
          <p:nvPr/>
        </p:nvSpPr>
        <p:spPr>
          <a:xfrm>
            <a:off x="6784848" y="3035808"/>
            <a:ext cx="548640" cy="548640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900" b="1" lang="pt-BR">
                <a:solidFill>
                  <a:srgbClr val="FFFFFF"/>
                </a:solidFill>
                <a:latin typeface="Cambria"/>
              </a:rPr>
              <a:t>×</a:t>
            </a:r>
          </a:p>
        </p:txBody>
      </p:sp>
      <p:sp>
        <p:nvSpPr>
          <p:cNvPr id="25" name="Oval 24"/>
          <p:cNvSpPr/>
          <p:nvPr/>
        </p:nvSpPr>
        <p:spPr>
          <a:xfrm>
            <a:off x="4956048" y="395020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600" b="0" i="1" lang="pt-BR">
                <a:solidFill>
                  <a:srgbClr val="0B3658"/>
                </a:solidFill>
                <a:latin typeface="Cambria"/>
              </a:rPr>
              <a:t>x</a:t>
            </a:r>
            <a:r>
              <a:rPr sz="1600" b="0" lang="pt-BR" baseline="-25000">
                <a:solidFill>
                  <a:srgbClr val="0B3658"/>
                </a:solidFill>
                <a:latin typeface="Cambria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6281928" y="395020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600" b="0" i="1" lang="pt-BR">
                <a:solidFill>
                  <a:srgbClr val="0B3658"/>
                </a:solidFill>
                <a:latin typeface="Cambria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7287768" y="395020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3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600" b="0" i="1" lang="pt-BR">
                <a:solidFill>
                  <a:srgbClr val="0B3658"/>
                </a:solidFill>
                <a:latin typeface="Cambria"/>
              </a:rPr>
              <a:t>x</a:t>
            </a:r>
            <a:r>
              <a:rPr sz="1600" b="0" lang="pt-BR" baseline="-25000">
                <a:solidFill>
                  <a:srgbClr val="0B3658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4681728"/>
            <a:ext cx="384048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2100" b="0" i="1" lang="pt-BR">
                <a:solidFill>
                  <a:srgbClr val="0B3658"/>
                </a:solidFill>
                <a:latin typeface="Cambria"/>
              </a:rPr>
              <a:t>y = √x</a:t>
            </a:r>
            <a:r>
              <a:rPr sz="2100" b="0" lang="pt-BR" baseline="-25000">
                <a:solidFill>
                  <a:srgbClr val="0B3658"/>
                </a:solidFill>
                <a:latin typeface="Cambria"/>
              </a:rPr>
              <a:t>1</a:t>
            </a:r>
            <a:r>
              <a:rPr sz="2100" b="0" i="1" lang="pt-BR">
                <a:solidFill>
                  <a:srgbClr val="0B3658"/>
                </a:solidFill>
                <a:latin typeface="Cambria"/>
              </a:rPr>
              <a:t>  +  c · x</a:t>
            </a:r>
            <a:r>
              <a:rPr sz="2100" b="0" lang="pt-BR" baseline="-25000">
                <a:solidFill>
                  <a:srgbClr val="0B3658"/>
                </a:solidFill>
                <a:latin typeface="Cambria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5175504"/>
            <a:ext cx="38404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operadores nos nós · variáveis e constantes nas folhas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627632"/>
            <a:ext cx="3355848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A população de árvores evolui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057400"/>
            <a:ext cx="3355848" cy="676656"/>
          </a:xfrm>
          <a:prstGeom prst="roundRect">
            <a:avLst>
              <a:gd name="adj" fmla="val 1216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2103120"/>
            <a:ext cx="29900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mutação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395728"/>
            <a:ext cx="29900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troca um operador ou uma constante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53244" y="2752344"/>
            <a:ext cx="0" cy="128016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75320" y="2898648"/>
            <a:ext cx="3355848" cy="676656"/>
          </a:xfrm>
          <a:prstGeom prst="roundRect">
            <a:avLst>
              <a:gd name="adj" fmla="val 1216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2944368"/>
            <a:ext cx="29900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recombinação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236976"/>
            <a:ext cx="29900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cruza partes de duas equações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53244" y="3593591"/>
            <a:ext cx="0" cy="128017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75320" y="3739896"/>
            <a:ext cx="3355848" cy="676656"/>
          </a:xfrm>
          <a:prstGeom prst="roundRect">
            <a:avLst>
              <a:gd name="adj" fmla="val 1216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785615"/>
            <a:ext cx="29900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seleção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078224"/>
            <a:ext cx="29900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sobrevivem as mais acuradas e mais simples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4626864"/>
            <a:ext cx="3355848" cy="1033271"/>
          </a:xfrm>
          <a:prstGeom prst="roundRect">
            <a:avLst>
              <a:gd name="adj" fmla="val 7964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4690872"/>
            <a:ext cx="2990088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FFFFFF"/>
                </a:solidFill>
                <a:latin typeface="Calibri"/>
              </a:rPr>
              <a:t>Resultado: não uma equação, mas uma </a:t>
            </a:r>
            <a:r>
              <a:rPr sz="1400" b="1" lang="pt-BR">
                <a:solidFill>
                  <a:srgbClr val="F5C75C"/>
                </a:solidFill>
                <a:latin typeface="Calibri"/>
              </a:rPr>
              <a:t>fronteira de Pareto</a:t>
            </a:r>
            <a:r>
              <a:rPr sz="1400" b="0" lang="pt-BR">
                <a:solidFill>
                  <a:srgbClr val="FFFFFF"/>
                </a:solidFill>
                <a:latin typeface="Calibri"/>
              </a:rPr>
              <a:t> — erro × complexidade. Quem escolhe é o analista.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824728"/>
            <a:ext cx="11064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Programação genética (Koza, 1994)  ·  PySR (Cranmer, 2023)  ·  operadores: +  −  ×  ÷  log  √  x²  x³  exp  ·  tamanho máximo da expressão: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2 · A PROPOSTA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Destilação: a SR aprende com a KAN, preservando as interações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4937760" cy="2194560"/>
          </a:xfrm>
          <a:prstGeom prst="roundRect">
            <a:avLst>
              <a:gd name="adj" fmla="val 3750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00784"/>
            <a:ext cx="44805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BB1F2C"/>
                </a:solidFill>
                <a:latin typeface="Calibri"/>
              </a:rPr>
              <a:t>ESTRATÉGIA 1 · ADITIVA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448056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50" b="1" lang="pt-BR">
                <a:solidFill>
                  <a:srgbClr val="0B3658"/>
                </a:solidFill>
                <a:latin typeface="Calibri"/>
              </a:rPr>
              <a:t>Uma fórmula para cada perfil marginal, depois a soma</a:t>
            </a:r>
          </a:p>
        </p:txBody>
      </p:sp>
      <p:sp>
        <p:nvSpPr>
          <p:cNvPr id="9" name="Freeform 8"/>
          <p:cNvSpPr/>
          <p:nvPr/>
        </p:nvSpPr>
        <p:spPr>
          <a:xfrm>
            <a:off x="841247" y="2505456"/>
            <a:ext cx="310897" cy="310896"/>
          </a:xfrm>
          <a:custGeom>
            <a:avLst/>
            <a:gdLst/>
            <a:ahLst/>
            <a:cxnLst/>
            <a:rect l="l" t="t" r="r" b="b"/>
            <a:pathLst>
              <a:path w="310897" h="310896">
                <a:moveTo>
                  <a:pt x="0" y="0"/>
                </a:moveTo>
                <a:lnTo>
                  <a:pt x="310897" y="310896"/>
                </a:lnTo>
              </a:path>
            </a:pathLst>
          </a:custGeom>
          <a:noFill/>
          <a:ln w="50800" cap="rnd">
            <a:solidFill>
              <a:srgbClr val="BB1F2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41247" y="2505456"/>
            <a:ext cx="310897" cy="310896"/>
          </a:xfrm>
          <a:custGeom>
            <a:avLst/>
            <a:gdLst/>
            <a:ahLst/>
            <a:cxnLst/>
            <a:rect l="l" t="t" r="r" b="b"/>
            <a:pathLst>
              <a:path w="310897" h="310896">
                <a:moveTo>
                  <a:pt x="310897" y="0"/>
                </a:moveTo>
                <a:lnTo>
                  <a:pt x="0" y="310896"/>
                </a:lnTo>
              </a:path>
            </a:pathLst>
          </a:custGeom>
          <a:noFill/>
          <a:ln w="50800" cap="rnd">
            <a:solidFill>
              <a:srgbClr val="BB1F2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359152"/>
            <a:ext cx="2651760" cy="5943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400" b="1" lang="pt-BR">
                <a:solidFill>
                  <a:srgbClr val="BB1F2C"/>
                </a:solidFill>
                <a:latin typeface="Calibri"/>
              </a:rPr>
              <a:t>R² = 0,095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017520"/>
            <a:ext cx="452628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A maioria dos perfis foi reproduzida com R² &gt; 0,95. Mas o modelo recomposto falha: as camadas ocultas criam interações que curvas isoladas não recuperam.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50208"/>
            <a:ext cx="4937760" cy="21945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050791"/>
            <a:ext cx="44805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2E7D4F"/>
                </a:solidFill>
                <a:latin typeface="Calibri"/>
              </a:rPr>
              <a:t>ESTRATÉGIA 2 · MULTIVARIADA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315968"/>
            <a:ext cx="448056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50" b="1" lang="pt-BR">
                <a:solidFill>
                  <a:srgbClr val="0B3658"/>
                </a:solidFill>
                <a:latin typeface="Calibri"/>
              </a:rPr>
              <a:t>A SR aprende diretamente as predições da KAN</a:t>
            </a:r>
          </a:p>
        </p:txBody>
      </p:sp>
      <p:sp>
        <p:nvSpPr>
          <p:cNvPr id="16" name="Freeform 15"/>
          <p:cNvSpPr/>
          <p:nvPr/>
        </p:nvSpPr>
        <p:spPr>
          <a:xfrm>
            <a:off x="813816" y="4883261"/>
            <a:ext cx="384048" cy="299558"/>
          </a:xfrm>
          <a:custGeom>
            <a:avLst/>
            <a:gdLst/>
            <a:ahLst/>
            <a:cxnLst/>
            <a:rect l="l" t="t" r="r" b="b"/>
            <a:pathLst>
              <a:path w="384048" h="299558">
                <a:moveTo>
                  <a:pt x="0" y="165141"/>
                </a:moveTo>
                <a:lnTo>
                  <a:pt x="138257" y="299558"/>
                </a:lnTo>
                <a:lnTo>
                  <a:pt x="384048" y="0"/>
                </a:lnTo>
              </a:path>
            </a:pathLst>
          </a:custGeom>
          <a:noFill/>
          <a:ln w="50800" cap="rnd">
            <a:solidFill>
              <a:srgbClr val="2E7D4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709160"/>
            <a:ext cx="2651760" cy="5943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400" b="1" lang="pt-BR">
                <a:solidFill>
                  <a:srgbClr val="2E7D4F"/>
                </a:solidFill>
                <a:latin typeface="Calibri"/>
              </a:rPr>
              <a:t>R² = 0,900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4764024"/>
            <a:ext cx="16002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fidelidade à rede, no conjunto de teste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367528"/>
            <a:ext cx="452628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A equação é buscada em função das variáveis originais: as interações aprendidas pela rede são preservadas.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1600200"/>
            <a:ext cx="585216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A fronteira de Pareto do experimento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8" y="1901952"/>
            <a:ext cx="5852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18 equações candidatas — fidelidade crescente, ganhos decrescentes</a:t>
            </a:r>
          </a:p>
        </p:txBody>
      </p:sp>
      <p:graphicFrame>
        <p:nvGraphicFramePr>
          <p:cNvPr id="22" name="Fronteira de Pareto (PySR)" descr="Gráfico de dispersão: fidelidade da equação à KAN (R², treino, em %) em função da complexidade, de 1 a 20. A fidelidade cresce de 0 a 91%; o ponto escolhido é o de complexidade 19, com 90%."/>
          <p:cNvGraphicFramePr>
            <a:graphicFrameLocks noGrp="1"/>
          </p:cNvGraphicFramePr>
          <p:nvPr/>
        </p:nvGraphicFramePr>
        <p:xfrm>
          <a:off x="5733288" y="2194560"/>
          <a:ext cx="5897880" cy="34015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110728" y="361188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CB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7888" y="3767328"/>
            <a:ext cx="201168" cy="201168"/>
          </a:xfrm>
          <a:prstGeom prst="ellipse">
            <a:avLst/>
          </a:prstGeom>
          <a:solidFill>
            <a:srgbClr val="F0A8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0496" y="3685032"/>
            <a:ext cx="292608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equação escolhida: complexidade 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4005072"/>
            <a:ext cx="292608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compromisso entre acurácia e parcimônia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5669280"/>
            <a:ext cx="5852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Fidelidade = R² entre a equação e as predições da KAN, no treino (90,0% no teste para a equação escolhida). Fonte: fronteira de Pareto retornada pelo PySR.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3 · O EXPERIMENTO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A base: 15.000 transações reais de apartamentos em São Paulo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2560320" cy="685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4000" b="1" lang="pt-BR">
                <a:solidFill>
                  <a:srgbClr val="3D6085"/>
                </a:solidFill>
                <a:latin typeface="Calibri"/>
              </a:rPr>
              <a:t>132.286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4408" y="1627632"/>
            <a:ext cx="2194559" cy="5943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transações de ITBI</a:t>
            </a:r>
          </a:p>
          <a:p>
            <a:pPr algn="l"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Prefeitura de São Paulo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9848" y="2331720"/>
            <a:ext cx="0" cy="548640"/>
          </a:xfrm>
          <a:prstGeom prst="line">
            <a:avLst/>
          </a:prstGeom>
          <a:ln w="2540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44168" y="2331720"/>
            <a:ext cx="41148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cruzamento com o cadastro do IPTU (2021–2022)</a:t>
            </a:r>
          </a:p>
          <a:p>
            <a:pPr algn="l"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78% de correspondência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90088"/>
            <a:ext cx="4892040" cy="1097280"/>
          </a:xfrm>
          <a:prstGeom prst="roundRect">
            <a:avLst>
              <a:gd name="adj" fmla="val 7500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017520"/>
            <a:ext cx="2468880" cy="10424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5000" b="1" lang="pt-BR">
                <a:solidFill>
                  <a:srgbClr val="FFFFFF"/>
                </a:solidFill>
                <a:latin typeface="Calibri"/>
              </a:rPr>
              <a:t>15.000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3017520"/>
            <a:ext cx="2057399" cy="10424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FFFFFF"/>
                </a:solidFill>
                <a:latin typeface="Calibri"/>
              </a:rPr>
              <a:t>apartamentos</a:t>
            </a:r>
          </a:p>
          <a:p>
            <a:pPr algn="l">
              <a:lnSpc>
                <a:spcPct val="98000"/>
              </a:lnSpc>
              <a:buNone/>
            </a:pPr>
            <a:r>
              <a:rPr sz="1300" b="0" lang="pt-BR">
                <a:solidFill>
                  <a:srgbClr val="DCE6F0"/>
                </a:solidFill>
                <a:latin typeface="Calibri"/>
              </a:rPr>
              <a:t>amostra estratificada por padrão construtivo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4160520"/>
            <a:ext cx="0" cy="411480"/>
          </a:xfrm>
          <a:prstGeom prst="line">
            <a:avLst/>
          </a:prstGeom>
          <a:ln w="25400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44168" y="4160520"/>
            <a:ext cx="4114800" cy="4114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partição estratificada, semente fixa (42)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3396996" cy="457200"/>
          </a:xfrm>
          <a:prstGeom prst="roundRect">
            <a:avLst>
              <a:gd name="adj" fmla="val 12000"/>
            </a:avLst>
          </a:prstGeom>
          <a:solidFill>
            <a:srgbClr val="3D6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400" b="1" lang="pt-BR">
                <a:solidFill>
                  <a:srgbClr val="FFFFFF"/>
                </a:solidFill>
                <a:latin typeface="Calibri"/>
              </a:rPr>
              <a:t>treino 70% · 10.500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5072" y="4663440"/>
            <a:ext cx="706373" cy="457200"/>
          </a:xfrm>
          <a:prstGeom prst="roundRect">
            <a:avLst>
              <a:gd name="adj" fmla="val 12000"/>
            </a:avLst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2594" y="4663440"/>
            <a:ext cx="706373" cy="457200"/>
          </a:xfrm>
          <a:prstGeom prst="roundRect">
            <a:avLst>
              <a:gd name="adj" fmla="val 12000"/>
            </a:avLst>
          </a:prstGeom>
          <a:solidFill>
            <a:srgbClr val="F0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4210" y="5157216"/>
            <a:ext cx="76809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200" b="1" lang="pt-BR">
                <a:solidFill>
                  <a:srgbClr val="1F2A37"/>
                </a:solidFill>
                <a:latin typeface="Calibri"/>
              </a:rPr>
              <a:t>validação</a:t>
            </a:r>
          </a:p>
          <a:p>
            <a:pPr algn="ctr">
              <a:buNone/>
            </a:pPr>
            <a:r>
              <a:rPr sz="1150" b="0" lang="pt-BR">
                <a:solidFill>
                  <a:srgbClr val="5B6775"/>
                </a:solidFill>
                <a:latin typeface="Calibri"/>
              </a:rPr>
              <a:t>15% · 2.250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1732" y="5157216"/>
            <a:ext cx="76809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200" b="1" lang="pt-BR">
                <a:solidFill>
                  <a:srgbClr val="1F2A37"/>
                </a:solidFill>
                <a:latin typeface="Calibri"/>
              </a:rPr>
              <a:t>teste</a:t>
            </a:r>
          </a:p>
          <a:p>
            <a:pPr algn="ctr">
              <a:buNone/>
            </a:pPr>
            <a:r>
              <a:rPr sz="1150" b="0" lang="pt-BR">
                <a:solidFill>
                  <a:srgbClr val="5B6775"/>
                </a:solidFill>
                <a:latin typeface="Calibri"/>
              </a:rPr>
              <a:t>15% · 2.250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572768"/>
            <a:ext cx="587044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700" b="0" lang="pt-BR">
                <a:solidFill>
                  <a:srgbClr val="0B3658"/>
                </a:solidFill>
                <a:latin typeface="Calibri"/>
              </a:rPr>
              <a:t>Alvo: </a:t>
            </a:r>
            <a:r>
              <a:rPr sz="1700" b="1" lang="pt-BR">
                <a:solidFill>
                  <a:srgbClr val="0B3658"/>
                </a:solidFill>
                <a:latin typeface="Calibri"/>
              </a:rPr>
              <a:t>ln(V/m²)</a:t>
            </a:r>
            <a:r>
              <a:rPr sz="1700" b="0" lang="pt-BR">
                <a:solidFill>
                  <a:srgbClr val="0B3658"/>
                </a:solidFill>
                <a:latin typeface="Calibri"/>
              </a:rPr>
              <a:t>   ·   12 variáveis explicativas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011680"/>
            <a:ext cx="587044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5B6775"/>
                </a:solidFill>
                <a:latin typeface="Calibri"/>
              </a:rPr>
              <a:t>FISCAIS · IPTU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249424"/>
            <a:ext cx="1850290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valor do m² de terreno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3306" y="2249424"/>
            <a:ext cx="2093872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valor do m² de construção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688336"/>
            <a:ext cx="587044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5B6775"/>
                </a:solidFill>
                <a:latin typeface="Calibri"/>
              </a:rPr>
              <a:t>FÍSICAS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926080"/>
            <a:ext cx="1355645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área construída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98661" y="2926080"/>
            <a:ext cx="1363345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área do terreno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4302" y="2926080"/>
            <a:ext cx="1991776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padrão construtivo (1–6)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3328416"/>
            <a:ext cx="1499810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nº de pavimentos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42826" y="3328416"/>
            <a:ext cx="1833324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fator de obsolescência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767328"/>
            <a:ext cx="587044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5B6775"/>
                </a:solidFill>
                <a:latin typeface="Calibri"/>
              </a:rPr>
              <a:t>LOCALIZAÇÃO E TEMPO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4005072"/>
            <a:ext cx="1442323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CEP normalizado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5339" y="4005072"/>
            <a:ext cx="1492031" cy="320040"/>
          </a:xfrm>
          <a:prstGeom prst="roundRect">
            <a:avLst>
              <a:gd name="adj" fmla="val 48571"/>
            </a:avLst>
          </a:prstGeom>
          <a:solidFill>
            <a:srgbClr val="DD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mês da transação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443983"/>
            <a:ext cx="5870448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8A5F00"/>
                </a:solidFill>
                <a:latin typeface="Calibri"/>
              </a:rPr>
              <a:t>TRANSAÇÃO · ITBI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681727"/>
            <a:ext cx="1278235" cy="320040"/>
          </a:xfrm>
          <a:prstGeom prst="roundRect">
            <a:avLst>
              <a:gd name="adj" fmla="val 48571"/>
            </a:avLst>
          </a:pr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financiamento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21251" y="4681727"/>
            <a:ext cx="1751091" cy="320040"/>
          </a:xfrm>
          <a:prstGeom prst="roundRect">
            <a:avLst>
              <a:gd name="adj" fmla="val 48571"/>
            </a:avLst>
          </a:pr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proporção financiada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54639" y="4681727"/>
            <a:ext cx="1986835" cy="320040"/>
          </a:xfrm>
          <a:prstGeom prst="roundRect">
            <a:avLst>
              <a:gd name="adj" fmla="val 48571"/>
            </a:avLst>
          </a:pr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indício de subdeclaração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5138928"/>
            <a:ext cx="5870448" cy="658368"/>
          </a:xfrm>
          <a:prstGeom prst="roundRect">
            <a:avLst>
              <a:gd name="adj" fmla="val 125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5138928"/>
            <a:ext cx="5468112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lang="pt-BR">
                <a:solidFill>
                  <a:srgbClr val="0B3658"/>
                </a:solidFill>
                <a:latin typeface="Calibri"/>
              </a:rPr>
              <a:t>O ITBI é valor declarado. 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As três variáveis da transação controlam a qualidade declaratória e mitigam a subdeclaração.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870448"/>
            <a:ext cx="11064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Mesmo protocolo para os seis modelos: mesma partição e semente (42); transformações ajustadas só no treino; métricas no teste  ·  base e scripts: Kaggle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Resultado 1: a KAN vence — e generaliza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70408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R² no conjunto de teste</a:t>
            </a:r>
            <a:r>
              <a:rPr sz="1350" b="0" lang="pt-BR">
                <a:solidFill>
                  <a:srgbClr val="5B6775"/>
                </a:solidFill>
                <a:latin typeface="Calibri"/>
              </a:rPr>
              <a:t>  —  2.250 imóveis não usados no treinamento</a:t>
            </a:r>
          </a:p>
        </p:txBody>
      </p:sp>
      <p:graphicFrame>
        <p:nvGraphicFramePr>
          <p:cNvPr id="7" name="R² no teste — seis modelos" descr="Barras horizontais com o R² no teste: KAN 0,716; KAN+SR 0,665; OLS Box–Cox 0,661; MLP 1 camada 0,638; SR isolada 0,608; MLP 2 camadas 0,600."/>
          <p:cNvGraphicFramePr>
            <a:graphicFrameLocks noGrp="1"/>
          </p:cNvGraphicFramePr>
          <p:nvPr/>
        </p:nvGraphicFramePr>
        <p:xfrm>
          <a:off x="521207" y="1874519"/>
          <a:ext cx="71780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1600200"/>
            <a:ext cx="3630168" cy="1188720"/>
          </a:xfrm>
          <a:prstGeom prst="roundRect">
            <a:avLst>
              <a:gd name="adj" fmla="val 6923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45920"/>
            <a:ext cx="132588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200" b="1" lang="pt-BR">
                <a:solidFill>
                  <a:srgbClr val="FFFFFF"/>
                </a:solidFill>
                <a:latin typeface="Calibri"/>
              </a:rPr>
              <a:t>0,716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1673352"/>
            <a:ext cx="1984248" cy="10424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0" lang="pt-BR">
                <a:solidFill>
                  <a:srgbClr val="DCE6F0"/>
                </a:solidFill>
                <a:latin typeface="Calibri"/>
              </a:rPr>
              <a:t>R² da KAN no teste: o melhor dos seis modelos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926080"/>
            <a:ext cx="3630168" cy="1188720"/>
          </a:xfrm>
          <a:prstGeom prst="roundRect">
            <a:avLst>
              <a:gd name="adj" fmla="val 692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971800"/>
            <a:ext cx="132588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200" b="1" lang="pt-BR">
                <a:solidFill>
                  <a:srgbClr val="0B3658"/>
                </a:solidFill>
                <a:latin typeface="Calibri"/>
              </a:rPr>
              <a:t>0,013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2328" y="2999232"/>
            <a:ext cx="1984248" cy="10424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queda de R² do treino para o teste: a KAN generaliza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251960"/>
            <a:ext cx="3630168" cy="1188720"/>
          </a:xfrm>
          <a:prstGeom prst="roundRect">
            <a:avLst>
              <a:gd name="adj" fmla="val 692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4297680"/>
            <a:ext cx="132588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200" b="1" lang="pt-BR">
                <a:solidFill>
                  <a:srgbClr val="0B3658"/>
                </a:solidFill>
                <a:latin typeface="Calibri"/>
              </a:rPr>
              <a:t>16,7%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4325112"/>
            <a:ext cx="1984248" cy="1042415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MAPE da KAN, em R$/m² — nos demais modelos, de 18,0% a 19,8%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596128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596128"/>
            <a:ext cx="1060704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Cautela: </a:t>
            </a:r>
            <a:r>
              <a:rPr sz="1350" b="0" lang="pt-BR">
                <a:solidFill>
                  <a:srgbClr val="1F2A37"/>
                </a:solidFill>
                <a:latin typeface="Calibri"/>
              </a:rPr>
              <a:t>KAN+SR (0,665), OLS (0,661) e MLP de 1 camada (0,638) estão separados por milésimos a centésimos — a ordenação entre eles pede múltiplas sementes e intervalos de confiança.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Resultado 2: KAN × MLP — o indício aponta para as arestas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846320"/>
            <a:ext cx="5788152" cy="0"/>
          </a:xfrm>
          <a:prstGeom prst="line">
            <a:avLst/>
          </a:prstGeom>
          <a:ln w="12700">
            <a:solidFill>
              <a:srgbClr val="CBD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04672" y="2194742"/>
            <a:ext cx="960120" cy="2651577"/>
          </a:xfrm>
          <a:prstGeom prst="rect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764974"/>
            <a:ext cx="1508760" cy="384048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>
              <a:buNone/>
            </a:pPr>
            <a:r>
              <a:rPr sz="2200" b="1" lang="pt-BR">
                <a:solidFill>
                  <a:srgbClr val="1F2A37"/>
                </a:solidFill>
                <a:latin typeface="Calibri"/>
              </a:rPr>
              <a:t>0,716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919472"/>
            <a:ext cx="1618488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KAN</a:t>
            </a:r>
          </a:p>
          <a:p>
            <a:pPr algn="ctr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[12 → 6 → 1]</a:t>
            </a:r>
          </a:p>
          <a:p>
            <a:pPr algn="ctr">
              <a:buNone/>
            </a:pPr>
            <a:r>
              <a:rPr sz="1300" b="1" lang="pt-BR">
                <a:solidFill>
                  <a:srgbClr val="0B3658"/>
                </a:solidFill>
                <a:latin typeface="Calibri"/>
              </a:rPr>
              <a:t>≈ 1.014 parâmetros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483601"/>
            <a:ext cx="960120" cy="2362718"/>
          </a:xfrm>
          <a:prstGeom prst="rect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053833"/>
            <a:ext cx="1508760" cy="384048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>
              <a:buNone/>
            </a:pPr>
            <a:r>
              <a:rPr sz="2200" b="1" lang="pt-BR">
                <a:solidFill>
                  <a:srgbClr val="1F2A37"/>
                </a:solidFill>
                <a:latin typeface="Calibri"/>
              </a:rPr>
              <a:t>0,638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4919472"/>
            <a:ext cx="1618488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MLP 1 camada</a:t>
            </a:r>
          </a:p>
          <a:p>
            <a:pPr algn="ctr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[12 → 24 → 1]</a:t>
            </a:r>
          </a:p>
          <a:p>
            <a:pPr algn="ctr">
              <a:buNone/>
            </a:pPr>
            <a:r>
              <a:rPr sz="1300" b="1" lang="pt-BR">
                <a:solidFill>
                  <a:srgbClr val="5B6775"/>
                </a:solidFill>
                <a:latin typeface="Calibri"/>
              </a:rPr>
              <a:t>337 parâmetros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2624328"/>
            <a:ext cx="960120" cy="2221991"/>
          </a:xfrm>
          <a:prstGeom prst="rect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194560"/>
            <a:ext cx="1508760" cy="384048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>
              <a:buNone/>
            </a:pPr>
            <a:r>
              <a:rPr sz="2200" b="1" lang="pt-BR">
                <a:solidFill>
                  <a:srgbClr val="1F2A37"/>
                </a:solidFill>
                <a:latin typeface="Calibri"/>
              </a:rPr>
              <a:t>0,600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3" y="4919472"/>
            <a:ext cx="1618488" cy="960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MLP 2 camadas</a:t>
            </a:r>
          </a:p>
          <a:p>
            <a:pPr algn="ctr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[12 → 24 → 12 → 1]</a:t>
            </a:r>
          </a:p>
          <a:p>
            <a:pPr algn="ctr">
              <a:buNone/>
            </a:pPr>
            <a:r>
              <a:rPr sz="1300" b="1" lang="pt-BR">
                <a:solidFill>
                  <a:srgbClr val="5B6775"/>
                </a:solidFill>
                <a:latin typeface="Calibri"/>
              </a:rPr>
              <a:t>625 parâmetros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72768"/>
            <a:ext cx="57607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R² no conjunto de teste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19656" y="3017520"/>
            <a:ext cx="1051560" cy="822960"/>
          </a:xfrm>
          <a:prstGeom prst="roundRect">
            <a:avLst>
              <a:gd name="adj" fmla="val 15555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+0,078</a:t>
            </a:r>
          </a:p>
          <a:p>
            <a:pPr algn="ctr">
              <a:buNone/>
            </a:pPr>
            <a:r>
              <a:rPr sz="1100" b="0" lang="pt-BR">
                <a:solidFill>
                  <a:srgbClr val="1F2A37"/>
                </a:solidFill>
                <a:latin typeface="Calibri"/>
              </a:rPr>
              <a:t>de R², com 3,0×</a:t>
            </a:r>
          </a:p>
          <a:p>
            <a:pPr algn="ctr">
              <a:buNone/>
            </a:pPr>
            <a:r>
              <a:rPr sz="1100" b="0" lang="pt-BR">
                <a:solidFill>
                  <a:srgbClr val="1F2A37"/>
                </a:solidFill>
                <a:latin typeface="Calibri"/>
              </a:rPr>
              <a:t>parâmetros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41063" y="3017520"/>
            <a:ext cx="1051560" cy="822960"/>
          </a:xfrm>
          <a:prstGeom prst="roundRect">
            <a:avLst>
              <a:gd name="adj" fmla="val 15555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0" rIns="9144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BB1F2C"/>
                </a:solidFill>
                <a:latin typeface="Calibri"/>
              </a:rPr>
              <a:t>−0,038</a:t>
            </a:r>
          </a:p>
          <a:p>
            <a:pPr algn="ctr">
              <a:buNone/>
            </a:pPr>
            <a:r>
              <a:rPr sz="1100" b="0" lang="pt-BR">
                <a:solidFill>
                  <a:srgbClr val="1F2A37"/>
                </a:solidFill>
                <a:latin typeface="Calibri"/>
              </a:rPr>
              <a:t>de R², com 1,9×</a:t>
            </a:r>
          </a:p>
          <a:p>
            <a:pPr algn="ctr">
              <a:buNone/>
            </a:pPr>
            <a:r>
              <a:rPr sz="1100" b="0" lang="pt-BR">
                <a:solidFill>
                  <a:srgbClr val="1F2A37"/>
                </a:solidFill>
                <a:latin typeface="Calibri"/>
              </a:rPr>
              <a:t>parâmetros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600200"/>
            <a:ext cx="5001768" cy="1389888"/>
          </a:xfrm>
          <a:prstGeom prst="roundRect">
            <a:avLst>
              <a:gd name="adj" fmla="val 5921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709928"/>
            <a:ext cx="454456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O indício: as funções de aresta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57400"/>
            <a:ext cx="4590288" cy="8778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Para relações suaves e monótonas, como as do mercado imobiliário, as B-splines aprendidas mostram-se mais expressivas que a ativação ReLU fixa.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099816"/>
            <a:ext cx="5001768" cy="1389888"/>
          </a:xfrm>
          <a:prstGeom prst="roundRect">
            <a:avLst>
              <a:gd name="adj" fmla="val 5921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209544"/>
            <a:ext cx="454456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Capacidade, sozinha, não explica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57016"/>
            <a:ext cx="4590288" cy="8778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Com quase o dobro de parâmetros, a MLP de 2 camadas ficou abaixo da de 1 camada: 0,600 contra 0,638.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599432"/>
            <a:ext cx="5001768" cy="1545336"/>
          </a:xfrm>
          <a:prstGeom prst="roundRect">
            <a:avLst>
              <a:gd name="adj" fmla="val 5325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54456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Ressalva do próprio artigo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056632"/>
            <a:ext cx="4590288" cy="103327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Orçamentos de parâmetros e esforço de ajuste não foram equiparados: é um indício, não um teste controlado. Próximo passo: orçamentos iguais e múltiplas sementes.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Resultado 3: a KAN mostra o que pesa no valor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69494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500" b="1" lang="pt-BR">
                <a:solidFill>
                  <a:srgbClr val="1F2A37"/>
                </a:solidFill>
                <a:latin typeface="Calibri"/>
              </a:rPr>
              <a:t>Amplitude do efeito marginal aprendido pela KAN</a:t>
            </a:r>
            <a:r>
              <a:rPr sz="1350" b="0" lang="pt-BR">
                <a:solidFill>
                  <a:srgbClr val="5B6775"/>
                </a:solidFill>
                <a:latin typeface="Calibri"/>
              </a:rPr>
              <a:t>  —  em ln(V/m²)</a:t>
            </a:r>
          </a:p>
        </p:txBody>
      </p:sp>
      <p:graphicFrame>
        <p:nvGraphicFramePr>
          <p:cNvPr id="7" name="Importância das variáveis — KAN" descr="Barras horizontais com a amplitude do efeito marginal de cada variável na KAN; o valor do m² de terreno domina (1,090)."/>
          <p:cNvGraphicFramePr>
            <a:graphicFrameLocks noGrp="1"/>
          </p:cNvGraphicFramePr>
          <p:nvPr/>
        </p:nvGraphicFramePr>
        <p:xfrm>
          <a:off x="521207" y="1828800"/>
          <a:ext cx="70866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600200"/>
            <a:ext cx="3721608" cy="1243584"/>
          </a:xfrm>
          <a:prstGeom prst="roundRect">
            <a:avLst>
              <a:gd name="adj" fmla="val 6617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664208"/>
            <a:ext cx="3319272" cy="4114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300" b="1" lang="pt-BR">
                <a:solidFill>
                  <a:srgbClr val="0B3658"/>
                </a:solidFill>
                <a:latin typeface="Calibri"/>
              </a:rPr>
              <a:t>1,090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093976"/>
            <a:ext cx="3355848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Valor do m² de terreno, da planta genérica de valores: o preditor dominante.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944368"/>
            <a:ext cx="3721608" cy="1243584"/>
          </a:xfrm>
          <a:prstGeom prst="roundRect">
            <a:avLst>
              <a:gd name="adj" fmla="val 6617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3008375"/>
            <a:ext cx="3319272" cy="4114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300" b="1" lang="pt-BR">
                <a:solidFill>
                  <a:srgbClr val="0B3658"/>
                </a:solidFill>
                <a:latin typeface="Calibri"/>
              </a:rPr>
              <a:t>0,438 · 0,347 · 0,321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3438144"/>
            <a:ext cx="3355848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Obsolescência, padrão construtivo e valor do m² de construção vêm em seguida.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288536"/>
            <a:ext cx="3721608" cy="1243584"/>
          </a:xfrm>
          <a:prstGeom prst="roundRect">
            <a:avLst>
              <a:gd name="adj" fmla="val 6617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4352544"/>
            <a:ext cx="3319272" cy="4114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300" b="1" lang="pt-BR">
                <a:solidFill>
                  <a:srgbClr val="BB1F2C"/>
                </a:solidFill>
                <a:latin typeface="Calibri"/>
              </a:rPr>
              <a:t>0,125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4782312"/>
            <a:ext cx="3355848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0" lang="pt-BR">
                <a:solidFill>
                  <a:srgbClr val="1F2A37"/>
                </a:solidFill>
                <a:latin typeface="Calibri"/>
              </a:rPr>
              <a:t>CEP: proxy fraca de localização — limitação assumida, a substituir por coordenadas geográficas.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596128"/>
            <a:ext cx="3721608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1" lang="pt-BR">
                <a:solidFill>
                  <a:srgbClr val="0B3658"/>
                </a:solidFill>
                <a:latin typeface="Calibri"/>
              </a:rPr>
              <a:t>Leitura análoga à dos coeficientes de um modelo hedônico: diretamente acessível ao avaliador.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Resultado 4: a rede destilada em uma linha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1627632" cy="8961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2300" b="1" lang="pt-BR">
                <a:solidFill>
                  <a:srgbClr val="0B3658"/>
                </a:solidFill>
                <a:latin typeface="Cambria"/>
              </a:rPr>
              <a:t>ln(V/m²) 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4288" y="1664208"/>
            <a:ext cx="1188720" cy="896112"/>
          </a:xfrm>
          <a:prstGeom prst="roundRect">
            <a:avLst>
              <a:gd name="adj" fmla="val 12244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2100" b="1" lang="pt-BR">
                <a:solidFill>
                  <a:srgbClr val="1F2A37"/>
                </a:solidFill>
                <a:latin typeface="Cambria"/>
              </a:rPr>
              <a:t>7,6153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664208"/>
            <a:ext cx="320039" cy="8961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2400" b="1" lang="pt-BR">
                <a:solidFill>
                  <a:srgbClr val="0B3658"/>
                </a:solidFill>
                <a:latin typeface="Cambria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3048" y="1664208"/>
            <a:ext cx="2331720" cy="896112"/>
          </a:xfrm>
          <a:prstGeom prst="roundRect">
            <a:avLst>
              <a:gd name="adj" fmla="val 12244"/>
            </a:avLst>
          </a:prstGeom>
          <a:solidFill>
            <a:srgbClr val="D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2100" b="1" lang="pt-BR">
                <a:solidFill>
                  <a:srgbClr val="1F2A37"/>
                </a:solidFill>
                <a:latin typeface="Cambria"/>
              </a:rPr>
              <a:t>√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( 1,9699 · </a:t>
            </a:r>
            <a:r>
              <a:rPr sz="2100" b="1" i="1" lang="pt-BR">
                <a:solidFill>
                  <a:srgbClr val="1F2A37"/>
                </a:solidFill>
                <a:latin typeface="Cambria"/>
              </a:rPr>
              <a:t>VT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664208"/>
            <a:ext cx="320040" cy="8961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2400" b="1" lang="pt-BR">
                <a:solidFill>
                  <a:srgbClr val="0B3658"/>
                </a:solidFill>
                <a:latin typeface="Cambria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4808" y="1664208"/>
            <a:ext cx="2560320" cy="896112"/>
          </a:xfrm>
          <a:prstGeom prst="roundRect">
            <a:avLst>
              <a:gd name="adj" fmla="val 12244"/>
            </a:avLst>
          </a:pr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2100" b="1" lang="pt-BR">
                <a:solidFill>
                  <a:srgbClr val="1F2A37"/>
                </a:solidFill>
                <a:latin typeface="Cambria"/>
              </a:rPr>
              <a:t>0,4585 · ( </a:t>
            </a:r>
            <a:r>
              <a:rPr sz="2100" b="1" i="1" lang="pt-BR">
                <a:solidFill>
                  <a:srgbClr val="1F2A37"/>
                </a:solidFill>
                <a:latin typeface="Cambria"/>
              </a:rPr>
              <a:t>VC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 + </a:t>
            </a:r>
            <a:r>
              <a:rPr sz="2100" b="1" i="1" lang="pt-BR">
                <a:solidFill>
                  <a:srgbClr val="1F2A37"/>
                </a:solidFill>
                <a:latin typeface="Cambria"/>
              </a:rPr>
              <a:t>AT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1664208"/>
            <a:ext cx="320039" cy="8961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2400" b="1" lang="pt-BR">
                <a:solidFill>
                  <a:srgbClr val="0B3658"/>
                </a:solidFill>
                <a:latin typeface="Cambria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5168" y="1664208"/>
            <a:ext cx="2286000" cy="896112"/>
          </a:xfrm>
          <a:prstGeom prst="roundRect">
            <a:avLst>
              <a:gd name="adj" fmla="val 12244"/>
            </a:avLst>
          </a:prstGeom>
          <a:solidFill>
            <a:srgbClr val="F6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2100" b="1" lang="pt-BR">
                <a:solidFill>
                  <a:srgbClr val="1F2A37"/>
                </a:solidFill>
                <a:latin typeface="Cambria"/>
              </a:rPr>
              <a:t>( </a:t>
            </a:r>
            <a:r>
              <a:rPr sz="2100" b="1" i="1" lang="pt-BR">
                <a:solidFill>
                  <a:srgbClr val="1F2A37"/>
                </a:solidFill>
                <a:latin typeface="Cambria"/>
              </a:rPr>
              <a:t>FO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 − </a:t>
            </a:r>
            <a:r>
              <a:rPr sz="2100" b="1" i="1" lang="pt-BR">
                <a:solidFill>
                  <a:srgbClr val="1F2A37"/>
                </a:solidFill>
                <a:latin typeface="Cambria"/>
              </a:rPr>
              <a:t>SD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 )</a:t>
            </a:r>
            <a:r>
              <a:rPr sz="2100" b="1" lang="pt-BR" baseline="30000">
                <a:solidFill>
                  <a:srgbClr val="1F2A37"/>
                </a:solidFill>
                <a:latin typeface="Cambria"/>
              </a:rPr>
              <a:t>3</a:t>
            </a:r>
            <a:r>
              <a:rPr sz="2100" b="1" lang="pt-BR">
                <a:solidFill>
                  <a:srgbClr val="1F2A37"/>
                </a:solidFill>
                <a:latin typeface="Cambria"/>
              </a:rPr>
              <a:t> · </a:t>
            </a:r>
            <a:r>
              <a:rPr sz="2100" b="1" i="1" lang="pt-BR">
                <a:solidFill>
                  <a:srgbClr val="1F2A37"/>
                </a:solidFill>
                <a:latin typeface="Cambria"/>
              </a:rPr>
              <a:t>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679192"/>
            <a:ext cx="137160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Nível-base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990088"/>
            <a:ext cx="137160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constante do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679192"/>
            <a:ext cx="251460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Retornos decrescentes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990088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A raiz quadrada do valor do m² de terreno: cada real a mais pesa menos.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679192"/>
            <a:ext cx="274320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Efeito 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90088"/>
            <a:ext cx="274320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Valor do m² de construção + área do terreno. Soma válida em escala normalizada — não é equivalência econômica.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679192"/>
            <a:ext cx="24688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0B3658"/>
                </a:solidFill>
                <a:latin typeface="Calibri"/>
              </a:rPr>
              <a:t>Interação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990088"/>
            <a:ext cx="246888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8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Obsolescência × padrão, corrigida pela subdeclaração. O sinal pode se inverter quando ela é sinalizada: verificar no domínio observado.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14800"/>
            <a:ext cx="11064240" cy="758952"/>
          </a:xfrm>
          <a:prstGeom prst="roundRect">
            <a:avLst>
              <a:gd name="adj" fmla="val 1084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197096"/>
            <a:ext cx="2788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400" b="1" i="1" lang="pt-BR">
                <a:solidFill>
                  <a:srgbClr val="0B3658"/>
                </a:solidFill>
                <a:latin typeface="Cambria"/>
              </a:rPr>
              <a:t>VT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 valor do m² de terreno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4197096"/>
            <a:ext cx="2788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400" b="1" i="1" lang="pt-BR">
                <a:solidFill>
                  <a:srgbClr val="0B3658"/>
                </a:solidFill>
                <a:latin typeface="Cambria"/>
              </a:rPr>
              <a:t>VC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 valor do m² de construção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97096"/>
            <a:ext cx="2788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400" b="1" i="1" lang="pt-BR">
                <a:solidFill>
                  <a:srgbClr val="0B3658"/>
                </a:solidFill>
                <a:latin typeface="Cambria"/>
              </a:rPr>
              <a:t>AT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 área do terreno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498848"/>
            <a:ext cx="2788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400" b="1" i="1" lang="pt-BR">
                <a:solidFill>
                  <a:srgbClr val="0B3658"/>
                </a:solidFill>
                <a:latin typeface="Cambria"/>
              </a:rPr>
              <a:t>FO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 fator de obsolescência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4498848"/>
            <a:ext cx="2788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400" b="1" i="1" lang="pt-BR">
                <a:solidFill>
                  <a:srgbClr val="0B3658"/>
                </a:solidFill>
                <a:latin typeface="Cambria"/>
              </a:rPr>
              <a:t>SD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 indício de subdeclaração (0/1)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498848"/>
            <a:ext cx="2788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400" b="1" i="1" lang="pt-BR">
                <a:solidFill>
                  <a:srgbClr val="0B3658"/>
                </a:solidFill>
                <a:latin typeface="Cambria"/>
              </a:rPr>
              <a:t>PC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 padrão construtivo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4169663"/>
            <a:ext cx="2194560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todas normalizadas em [0, 1]: MinMax, com parâmetros do treino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3529584" cy="1115568"/>
          </a:xfrm>
          <a:prstGeom prst="roundRect">
            <a:avLst>
              <a:gd name="adj" fmla="val 7377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84064"/>
            <a:ext cx="312724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100" b="1" lang="pt-BR">
                <a:solidFill>
                  <a:srgbClr val="0B3658"/>
                </a:solidFill>
                <a:latin typeface="Calibri"/>
              </a:rPr>
              <a:t>6 variáveis · 4 termos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541264"/>
            <a:ext cx="316382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complexidade 19 — no lugar de 78 curvas e ≈ 1.014 parâmetros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4256" y="5029200"/>
            <a:ext cx="3529584" cy="1115568"/>
          </a:xfrm>
          <a:prstGeom prst="roundRect">
            <a:avLst>
              <a:gd name="adj" fmla="val 7377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5047488"/>
            <a:ext cx="1371600" cy="10789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200" b="1" lang="pt-BR">
                <a:solidFill>
                  <a:srgbClr val="0B3658"/>
                </a:solidFill>
                <a:latin typeface="Calibri"/>
              </a:rPr>
              <a:t>0,900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7024" y="5047488"/>
            <a:ext cx="1792224" cy="10789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fidelidade à KAN (R², no conjunto de teste)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4" y="5029200"/>
            <a:ext cx="3529584" cy="1115568"/>
          </a:xfrm>
          <a:prstGeom prst="roundRect">
            <a:avLst>
              <a:gd name="adj" fmla="val 7377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5047488"/>
            <a:ext cx="1371600" cy="10789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3200" b="1" lang="pt-BR">
                <a:solidFill>
                  <a:srgbClr val="0B3658"/>
                </a:solidFill>
                <a:latin typeface="Calibri"/>
              </a:rPr>
              <a:t>0,665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5047488"/>
            <a:ext cx="1792224" cy="10789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R² no teste — o OLS obteve 0,661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Auditável na prática: a conta cabe em uma calculadora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534924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Um apartamento hipotético</a:t>
            </a:r>
          </a:p>
        </p:txBody>
      </p:sp>
      <p:graphicFrame>
        <p:nvGraphicFramePr>
          <p:cNvPr id="7" name="Dados do exemplo"/>
          <p:cNvGraphicFramePr>
            <a:graphicFrameLocks noGrp="1"/>
          </p:cNvGraphicFramePr>
          <p:nvPr/>
        </p:nvGraphicFramePr>
        <p:xfrm>
          <a:off x="566928" y="1938528"/>
          <a:ext cx="5349240" cy="276148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971800"/>
                <a:gridCol w="1143000"/>
                <a:gridCol w="12344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>Variável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>Normalizado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VT</a:t>
                      </a:r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  valor do m² de terreno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R$ 5.000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0,188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VC</a:t>
                      </a:r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  valor do m² de construção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R$ 2.500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0,484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AT</a:t>
                      </a:r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  área do terreno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2.000 m²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0,008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FO</a:t>
                      </a:r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  fator de obsolescência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0,823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PC</a:t>
                      </a:r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  padrão construtivo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SD</a:t>
                      </a:r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  indício de subdeclaração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54880"/>
            <a:ext cx="534924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normalizado = (valor − mínimo) ÷ amplitude, com os parâmetros do treino (slide de apoio C)</a:t>
            </a:r>
          </a:p>
          <a:p>
            <a:pPr algn="l">
              <a:lnSpc>
                <a:spcPct val="98000"/>
              </a:lnSpc>
              <a:spcBef>
                <a:spcPts val="300"/>
              </a:spcBef>
              <a:buNone/>
            </a:pPr>
            <a:r>
              <a:rPr sz="1250" b="1" lang="pt-BR">
                <a:solidFill>
                  <a:srgbClr val="5B6775"/>
                </a:solidFill>
                <a:latin typeface="Calibri"/>
              </a:rPr>
              <a:t>Exemplo ilustrativo: dados hipotéticos, dentro do domínio de treino.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72768"/>
            <a:ext cx="536752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Quatro termos, uma soma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38528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1F2A37"/>
                </a:solidFill>
                <a:latin typeface="Cambria"/>
              </a:rPr>
              <a:t>7,6153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193852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1700" b="0" lang="pt-BR">
                <a:solidFill>
                  <a:srgbClr val="5B6775"/>
                </a:solidFill>
                <a:latin typeface="Cambria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1938528"/>
            <a:ext cx="106984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800" b="1" lang="pt-BR">
                <a:solidFill>
                  <a:srgbClr val="1F2A37"/>
                </a:solidFill>
                <a:latin typeface="Cambria"/>
              </a:rPr>
              <a:t>7,615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87168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D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1F2A37"/>
                </a:solidFill>
                <a:latin typeface="Cambria"/>
              </a:rPr>
              <a:t>√( 1,9699 × 0,188 )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48716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1700" b="0" lang="pt-BR">
                <a:solidFill>
                  <a:srgbClr val="5B6775"/>
                </a:solidFill>
                <a:latin typeface="Cambria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2487168"/>
            <a:ext cx="106984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800" b="1" lang="pt-BR">
                <a:solidFill>
                  <a:srgbClr val="1F2A37"/>
                </a:solidFill>
                <a:latin typeface="Cambria"/>
              </a:rPr>
              <a:t>0,609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35808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1F2A37"/>
                </a:solidFill>
                <a:latin typeface="Cambria"/>
              </a:rPr>
              <a:t>0,4585 × ( 0,484 + 0,008 )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03580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1700" b="0" lang="pt-BR">
                <a:solidFill>
                  <a:srgbClr val="5B6775"/>
                </a:solidFill>
                <a:latin typeface="Cambria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3035808"/>
            <a:ext cx="106984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800" b="1" lang="pt-BR">
                <a:solidFill>
                  <a:srgbClr val="1F2A37"/>
                </a:solidFill>
                <a:latin typeface="Cambria"/>
              </a:rPr>
              <a:t>0,226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84448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6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1F2A37"/>
                </a:solidFill>
                <a:latin typeface="Cambria"/>
              </a:rPr>
              <a:t>( 0,823 − 0 )³ × 0,600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358444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1700" b="0" lang="pt-BR">
                <a:solidFill>
                  <a:srgbClr val="5B6775"/>
                </a:solidFill>
                <a:latin typeface="Cambria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3584448"/>
            <a:ext cx="106984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800" b="1" lang="pt-BR">
                <a:solidFill>
                  <a:srgbClr val="1F2A37"/>
                </a:solidFill>
                <a:latin typeface="Cambria"/>
              </a:rPr>
              <a:t>0,334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63640" y="4160520"/>
            <a:ext cx="5367528" cy="0"/>
          </a:xfrm>
          <a:prstGeom prst="line">
            <a:avLst/>
          </a:prstGeom>
          <a:ln w="15875">
            <a:solidFill>
              <a:srgbClr val="1F2A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63640" y="4206240"/>
            <a:ext cx="38404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700" b="1" lang="pt-BR">
                <a:solidFill>
                  <a:srgbClr val="0B3658"/>
                </a:solidFill>
                <a:latin typeface="Cambria"/>
              </a:rPr>
              <a:t>ln(V/m²)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4206240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1700" b="0" lang="pt-BR">
                <a:solidFill>
                  <a:srgbClr val="5B6775"/>
                </a:solidFill>
                <a:latin typeface="Cambria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4206240"/>
            <a:ext cx="106984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900" b="1" lang="pt-BR">
                <a:solidFill>
                  <a:srgbClr val="0B3658"/>
                </a:solidFill>
                <a:latin typeface="Cambria"/>
              </a:rPr>
              <a:t>8,784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754880"/>
            <a:ext cx="5367528" cy="713232"/>
          </a:xfrm>
          <a:prstGeom prst="roundRect">
            <a:avLst>
              <a:gd name="adj" fmla="val 11538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2200" b="1" lang="pt-BR">
                <a:solidFill>
                  <a:srgbClr val="FFFFFF"/>
                </a:solidFill>
                <a:latin typeface="Cambria"/>
              </a:rPr>
              <a:t>V/m² = e</a:t>
            </a:r>
            <a:r>
              <a:rPr sz="2200" b="1" lang="pt-BR" baseline="30000">
                <a:solidFill>
                  <a:srgbClr val="FFFFFF"/>
                </a:solidFill>
                <a:latin typeface="Cambria"/>
              </a:rPr>
              <a:t>8,784</a:t>
            </a:r>
            <a:r>
              <a:rPr sz="2200" b="1" lang="pt-BR">
                <a:solidFill>
                  <a:srgbClr val="FFFFFF"/>
                </a:solidFill>
                <a:latin typeface="Cambria"/>
              </a:rPr>
              <a:t>  ≈  </a:t>
            </a:r>
            <a:r>
              <a:rPr sz="2400" b="1" lang="pt-BR">
                <a:solidFill>
                  <a:srgbClr val="F5C75C"/>
                </a:solidFill>
                <a:latin typeface="Calibri"/>
              </a:rPr>
              <a:t>R$ 6.530 por m²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96128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596128"/>
            <a:ext cx="1060704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Qualquer avaliador, assistente técnico ou auditor refaz esta conta</a:t>
            </a:r>
            <a:r>
              <a:rPr sz="1600" b="0" lang="pt-BR">
                <a:solidFill>
                  <a:srgbClr val="1F2A37"/>
                </a:solidFill>
                <a:latin typeface="Calibri"/>
              </a:rPr>
              <a:t> — é isso que “auditável” significa.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KAN+SR × OLS: empate no R² — e a forma veio dos dados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029200" cy="3767328"/>
          </a:xfrm>
          <a:prstGeom prst="roundRect">
            <a:avLst>
              <a:gd name="adj" fmla="val 2184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4480560" cy="34747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900" b="1" lang="pt-BR">
                <a:solidFill>
                  <a:srgbClr val="0B3658"/>
                </a:solidFill>
                <a:latin typeface="Calibri"/>
              </a:rPr>
              <a:t>KAN+SR</a:t>
            </a:r>
            <a:r>
              <a:rPr sz="1500" b="0" lang="pt-BR">
                <a:solidFill>
                  <a:srgbClr val="5B6775"/>
                </a:solidFill>
                <a:latin typeface="Calibri"/>
              </a:rPr>
              <a:t>  ·  equação destilada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14630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0,665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1463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176272"/>
            <a:ext cx="14630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0,237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679192"/>
            <a:ext cx="1463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176272"/>
            <a:ext cx="14630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18,3%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679192"/>
            <a:ext cx="1463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MAPE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7" y="3063240"/>
            <a:ext cx="4480561" cy="0"/>
          </a:xfrm>
          <a:prstGeom prst="line">
            <a:avLst/>
          </a:prstGeom>
          <a:ln w="12700">
            <a:solidFill>
              <a:srgbClr val="CBD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7" y="3200400"/>
            <a:ext cx="4526280" cy="21214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6 variáveis, 4 termos (complexidade 19)</a:t>
            </a:r>
          </a:p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Forma funcional descoberta a partir dos dados</a:t>
            </a:r>
          </a:p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Capta a interação entre obsolescência, padrão e subdeclaração</a:t>
            </a:r>
          </a:p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Ressalva: a expressão foi escolhida com inspeção do teste — 0,665 é estimativa pontual otimista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1968" y="1600200"/>
            <a:ext cx="5029200" cy="3767328"/>
          </a:xfrm>
          <a:prstGeom prst="roundRect">
            <a:avLst>
              <a:gd name="adj" fmla="val 2184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1719072"/>
            <a:ext cx="4480560" cy="34747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900" b="1" lang="pt-BR">
                <a:solidFill>
                  <a:srgbClr val="0B3658"/>
                </a:solidFill>
                <a:latin typeface="Calibri"/>
              </a:rPr>
              <a:t>OLS Box–Cox</a:t>
            </a:r>
            <a:r>
              <a:rPr sz="1500" b="0" lang="pt-BR">
                <a:solidFill>
                  <a:srgbClr val="5B6775"/>
                </a:solidFill>
                <a:latin typeface="Calibri"/>
              </a:rPr>
              <a:t>  ·  referência clássica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176272"/>
            <a:ext cx="14630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0,661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679192"/>
            <a:ext cx="1463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76272"/>
            <a:ext cx="14630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0,239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79192"/>
            <a:ext cx="1463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176272"/>
            <a:ext cx="14630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700" b="1" lang="pt-BR">
                <a:solidFill>
                  <a:srgbClr val="0B3658"/>
                </a:solidFill>
                <a:latin typeface="Calibri"/>
              </a:rPr>
              <a:t>18,0%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679192"/>
            <a:ext cx="1463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MAPE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76288" y="3063240"/>
            <a:ext cx="4480560" cy="0"/>
          </a:xfrm>
          <a:prstGeom prst="line">
            <a:avLst/>
          </a:prstGeom>
          <a:ln w="12700">
            <a:solidFill>
              <a:srgbClr val="CBD4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76288" y="3200400"/>
            <a:ext cx="4526280" cy="21214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10 variáveis, 11 coeficientes</a:t>
            </a:r>
          </a:p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Forma imposta a priori: Box–Cox + seleção stepwise (AIC)</a:t>
            </a:r>
          </a:p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Heterocedasticidade (Breusch–Pagan LM = 520,7; White LM = 1.061,8): intervalos clássicos exigem erros-padrão robustos (HC3)</a:t>
            </a:r>
          </a:p>
          <a:p>
            <a:pPr algn="l" marL="182880" indent="-182880">
              <a:lnSpc>
                <a:spcPct val="98000"/>
              </a:lnSpc>
              <a:spcAft>
                <a:spcPts val="600"/>
              </a:spcAft>
              <a:buClr>
                <a:srgbClr val="0B3658"/>
              </a:buClr>
              <a:buChar char="•"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Resíduos não normais (Jarque–Bera = 5.640): cautela na inferência e nos valores extremos</a:t>
            </a:r>
          </a:p>
        </p:txBody>
      </p:sp>
      <p:sp>
        <p:nvSpPr>
          <p:cNvPr id="26" name="Oval 25"/>
          <p:cNvSpPr/>
          <p:nvPr/>
        </p:nvSpPr>
        <p:spPr>
          <a:xfrm>
            <a:off x="5577840" y="2834640"/>
            <a:ext cx="1042415" cy="1042415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250" b="0" lang="pt-BR">
                <a:solidFill>
                  <a:srgbClr val="DCE6F0"/>
                </a:solidFill>
                <a:latin typeface="Calibri"/>
              </a:rPr>
              <a:t>ΔR²</a:t>
            </a:r>
          </a:p>
          <a:p>
            <a:pPr algn="ctr">
              <a:buNone/>
            </a:pPr>
            <a:r>
              <a:rPr sz="1700" b="1" lang="pt-BR">
                <a:solidFill>
                  <a:srgbClr val="FFFFFF"/>
                </a:solidFill>
                <a:latin typeface="Calibri"/>
              </a:rPr>
              <a:t>0,004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32120"/>
            <a:ext cx="11064240" cy="612648"/>
          </a:xfrm>
          <a:prstGeom prst="roundRect">
            <a:avLst>
              <a:gd name="adj" fmla="val 14925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600" b="1" lang="pt-BR">
                <a:solidFill>
                  <a:srgbClr val="F5C75C"/>
                </a:solidFill>
                <a:latin typeface="Calibri"/>
              </a:rPr>
              <a:t>Equivalência de desempenho. </a:t>
            </a:r>
            <a:r>
              <a:rPr sz="1600" b="0" lang="pt-BR">
                <a:solidFill>
                  <a:srgbClr val="FFFFFF"/>
                </a:solidFill>
                <a:latin typeface="Calibri"/>
              </a:rPr>
              <a:t>O diferencial frente ao OLS: a forma foi descoberta pelos dados, não imposta pelo analista.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4 · RESULTADOS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Previsto × observado: a equação acompanha a rede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16</a:t>
            </a:r>
          </a:p>
        </p:txBody>
      </p:sp>
      <p:pic>
        <p:nvPicPr>
          <p:cNvPr id="6" name="Previsto × observado — KAN, KAN+SR e OLS" descr="Três gráficos de dispersão previsto × observado no conjunto de teste: KAN (R² 0,716), KAN+SR (0,665) e OLS Box–Cox (0,661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81328"/>
            <a:ext cx="1106424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8322" y="4956048"/>
            <a:ext cx="3383280" cy="868680"/>
          </a:xfrm>
          <a:prstGeom prst="roundRect">
            <a:avLst>
              <a:gd name="adj" fmla="val 947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914" y="4956048"/>
            <a:ext cx="3054096" cy="8686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KAN: </a:t>
            </a:r>
            <a:r>
              <a:rPr sz="1350" b="0" lang="pt-BR">
                <a:solidFill>
                  <a:srgbClr val="1F2A37"/>
                </a:solidFill>
                <a:latin typeface="Calibri"/>
              </a:rPr>
              <a:t>a nuvem mais concentrada em torno da diagonal.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2240" y="4956048"/>
            <a:ext cx="3383280" cy="868680"/>
          </a:xfrm>
          <a:prstGeom prst="roundRect">
            <a:avLst>
              <a:gd name="adj" fmla="val 947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6832" y="4956048"/>
            <a:ext cx="3054096" cy="8686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KAN+SR: </a:t>
            </a:r>
            <a:r>
              <a:rPr sz="1350" b="0" lang="pt-BR">
                <a:solidFill>
                  <a:srgbClr val="1F2A37"/>
                </a:solidFill>
                <a:latin typeface="Calibri"/>
              </a:rPr>
              <a:t>acompanha a rede, com resíduo médio próximo de zero; leve alargamento nas pontas.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5052" y="4956048"/>
            <a:ext cx="3383280" cy="868680"/>
          </a:xfrm>
          <a:prstGeom prst="roundRect">
            <a:avLst>
              <a:gd name="adj" fmla="val 947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9644" y="4956048"/>
            <a:ext cx="3054096" cy="8686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350" b="1" lang="pt-BR">
                <a:solidFill>
                  <a:srgbClr val="0B3658"/>
                </a:solidFill>
                <a:latin typeface="Calibri"/>
              </a:rPr>
              <a:t>OLS: </a:t>
            </a:r>
            <a:r>
              <a:rPr sz="1350" b="0" lang="pt-BR">
                <a:solidFill>
                  <a:srgbClr val="1F2A37"/>
                </a:solidFill>
                <a:latin typeface="Calibri"/>
              </a:rPr>
              <a:t>muito próximo da equação; resíduos heterocedásticos (Breusch–Pagan, White).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925312"/>
            <a:ext cx="11064240" cy="2468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Conjunto de teste (n = 2.250), escala de ln(V/m²). A diagonal representa a predição perfeita.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5 · SIGNIFICADO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IA a serviço do juízo profissional — não no lugar dele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61722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Com a equação aberta, o avaliador pode: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2985516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176272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76272"/>
            <a:ext cx="207111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Inspecionar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43200"/>
            <a:ext cx="2574036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Cada termo pode ser lido economicamente.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3612" y="1993392"/>
            <a:ext cx="2985516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54780" y="2176272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3420" y="2176272"/>
            <a:ext cx="207111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Criticar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2212" y="2743200"/>
            <a:ext cx="2574036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Sinais, monotonicidade e plausibilidade no domínio observado.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2985516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8096" y="3931920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931920"/>
            <a:ext cx="207111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Delimitar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98848"/>
            <a:ext cx="2574036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Aplicar a equação apenas no domínio de treino das variáveis.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53612" y="3749039"/>
            <a:ext cx="2985516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54780" y="3931920"/>
            <a:ext cx="420624" cy="420624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3420" y="3931920"/>
            <a:ext cx="207111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800" b="1" lang="pt-BR">
                <a:solidFill>
                  <a:srgbClr val="0B3658"/>
                </a:solidFill>
                <a:latin typeface="Calibri"/>
              </a:rPr>
              <a:t>Sustentar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2212" y="4498848"/>
            <a:ext cx="2574036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500" b="0" lang="pt-BR">
                <a:solidFill>
                  <a:srgbClr val="1F2A37"/>
                </a:solidFill>
                <a:latin typeface="Calibri"/>
              </a:rPr>
              <a:t>Explicar e defender o valor perante terceiros.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7728" y="1600200"/>
            <a:ext cx="4663440" cy="1965960"/>
          </a:xfrm>
          <a:prstGeom prst="roundRect">
            <a:avLst>
              <a:gd name="adj" fmla="val 4186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6328" y="1691640"/>
            <a:ext cx="4206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00">
                <a:solidFill>
                  <a:srgbClr val="8A5F00"/>
                </a:solidFill>
                <a:latin typeface="Calibri"/>
              </a:rPr>
              <a:t>IVSC · PERSPECTIVES PAPER (2025)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1965960"/>
            <a:ext cx="4251960" cy="15727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lang="pt-BR">
                <a:solidFill>
                  <a:srgbClr val="0B3658"/>
                </a:solidFill>
                <a:latin typeface="Calibri"/>
              </a:rPr>
              <a:t>AVM: 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cálculo automatizado do valor, sem julgamento profissional sobre o modelo. Por essa definição, sozinho, não produz avaliação conforme os IVS — mas pode auxiliar o avaliador que </a:t>
            </a:r>
            <a:r>
              <a:rPr sz="1400" b="1" lang="pt-BR">
                <a:solidFill>
                  <a:srgbClr val="0B3658"/>
                </a:solidFill>
                <a:latin typeface="Calibri"/>
              </a:rPr>
              <a:t>compreende, seleciona e revisa criticamente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 o modelo.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7728" y="3749039"/>
            <a:ext cx="4663440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6328" y="3840480"/>
            <a:ext cx="4206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00">
                <a:solidFill>
                  <a:srgbClr val="5B6775"/>
                </a:solidFill>
                <a:latin typeface="Calibri"/>
              </a:rPr>
              <a:t>ABNT NBR 14653-2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4114800"/>
            <a:ext cx="4251960" cy="11704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lang="pt-BR">
                <a:solidFill>
                  <a:srgbClr val="0B3658"/>
                </a:solidFill>
                <a:latin typeface="Calibri"/>
              </a:rPr>
              <a:t>Não fixa limiar mínimo de R². </a:t>
            </a:r>
            <a:r>
              <a:rPr sz="1400" b="0" lang="pt-BR">
                <a:solidFill>
                  <a:srgbClr val="1F2A37"/>
                </a:solidFill>
                <a:latin typeface="Calibri"/>
              </a:rPr>
              <a:t>O grau de precisão vem da amplitude do intervalo de confiança de 80% — estimável por bootstrap nos modelos de aprendizado.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86400"/>
            <a:ext cx="11064240" cy="658368"/>
          </a:xfrm>
          <a:prstGeom prst="roundRect">
            <a:avLst>
              <a:gd name="adj" fmla="val 13888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600" b="1" i="1" lang="pt-BR">
                <a:solidFill>
                  <a:srgbClr val="F5C75C"/>
                </a:solidFill>
                <a:latin typeface="Calibri"/>
              </a:rPr>
              <a:t>“Valoración, inteligencia artificial y juicio profesional”</a:t>
            </a:r>
            <a:r>
              <a:rPr sz="1600" b="0" lang="pt-BR">
                <a:solidFill>
                  <a:srgbClr val="FFFFFF"/>
                </a:solidFill>
                <a:latin typeface="Calibri"/>
              </a:rPr>
              <a:t>   —   a IA como instrumento do juízo profissional, não como substituta.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5 · SIGNIFICADO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Limitações declaradas — e os testes que ainda faltam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5349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BB1F2C"/>
                </a:solidFill>
                <a:latin typeface="Calibri"/>
              </a:rPr>
              <a:t>O QUE O ESTUDO AINDA NÃO PROVA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3368" y="1572768"/>
            <a:ext cx="52578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150" b="1" lang="pt-BR" spc="120">
                <a:solidFill>
                  <a:srgbClr val="0B3658"/>
                </a:solidFill>
                <a:latin typeface="Calibri"/>
              </a:rPr>
              <a:t>O TESTE QUE FALTA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5349240" cy="640080"/>
          </a:xfrm>
          <a:prstGeom prst="roundRect">
            <a:avLst>
              <a:gd name="adj" fmla="val 11428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4983479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CEP como proxy de localização: baixa granularidade.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221992"/>
            <a:ext cx="310896" cy="0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73368" y="1901952"/>
            <a:ext cx="5257800" cy="640080"/>
          </a:xfrm>
          <a:prstGeom prst="roundRect">
            <a:avLst>
              <a:gd name="adj" fmla="val 1142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901952"/>
            <a:ext cx="489204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Coordenadas geográficas e indicadores de acessibilidade.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19756"/>
            <a:ext cx="5349240" cy="640080"/>
          </a:xfrm>
          <a:prstGeom prst="roundRect">
            <a:avLst>
              <a:gd name="adj" fmla="val 11428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619756"/>
            <a:ext cx="4983479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Partição aleatória quanto à localização: risco de dependência espacial e métricas otimistas.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2939796"/>
            <a:ext cx="310896" cy="0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73368" y="2619756"/>
            <a:ext cx="5257800" cy="640080"/>
          </a:xfrm>
          <a:prstGeom prst="roundRect">
            <a:avLst>
              <a:gd name="adj" fmla="val 1142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2619756"/>
            <a:ext cx="489204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Validação por grupos, por blocos espaciais (I de Moran) e holdout temporal.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37560"/>
            <a:ext cx="5349240" cy="640080"/>
          </a:xfrm>
          <a:prstGeom prst="roundRect">
            <a:avLst>
              <a:gd name="adj" fmla="val 11428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37560"/>
            <a:ext cx="4983479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 equação foi escolhida com inspeção do teste: R² = 0,665 é estimativa pontual otimista.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3657600"/>
            <a:ext cx="310896" cy="0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73368" y="3337560"/>
            <a:ext cx="5257800" cy="640080"/>
          </a:xfrm>
          <a:prstGeom prst="roundRect">
            <a:avLst>
              <a:gd name="adj" fmla="val 1142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3337560"/>
            <a:ext cx="489204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Selecionar a expressão apenas na validação; usar o teste uma única vez.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55363"/>
            <a:ext cx="5349240" cy="640080"/>
          </a:xfrm>
          <a:prstGeom prst="roundRect">
            <a:avLst>
              <a:gd name="adj" fmla="val 11428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55363"/>
            <a:ext cx="4983479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Diferenças pequenas (ΔR² = 0,004), sem incerteza quantificada.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9320" y="4375403"/>
            <a:ext cx="310896" cy="0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73368" y="4055363"/>
            <a:ext cx="5257800" cy="640080"/>
          </a:xfrm>
          <a:prstGeom prst="roundRect">
            <a:avLst>
              <a:gd name="adj" fmla="val 1142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4055363"/>
            <a:ext cx="489204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Múltiplas sementes, bootstrap e intervalos de confiança.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73168"/>
            <a:ext cx="5349240" cy="640080"/>
          </a:xfrm>
          <a:prstGeom prst="roundRect">
            <a:avLst>
              <a:gd name="adj" fmla="val 11428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773168"/>
            <a:ext cx="4983479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Variáveis da transação podem não existir antes da escritura.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9320" y="5093207"/>
            <a:ext cx="310896" cy="0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73368" y="4773168"/>
            <a:ext cx="5257800" cy="640080"/>
          </a:xfrm>
          <a:prstGeom prst="roundRect">
            <a:avLst>
              <a:gd name="adj" fmla="val 1142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4536" y="4773168"/>
            <a:ext cx="489204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Análise de sensibilidade: desempenho com e sem essas variáveis.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490972"/>
            <a:ext cx="5349240" cy="640080"/>
          </a:xfrm>
          <a:prstGeom prst="roundRect">
            <a:avLst>
              <a:gd name="adj" fmla="val 11428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490972"/>
            <a:ext cx="4983479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Um município, uma tipologia — e sem o enquadramento formal da NBR 14653-2.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5811012"/>
            <a:ext cx="310896" cy="0"/>
          </a:xfrm>
          <a:prstGeom prst="line">
            <a:avLst/>
          </a:prstGeom>
          <a:ln w="22225">
            <a:solidFill>
              <a:srgbClr val="0B3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373368" y="5490972"/>
            <a:ext cx="5257800" cy="640080"/>
          </a:xfrm>
          <a:prstGeom prst="roundRect">
            <a:avLst>
              <a:gd name="adj" fmla="val 11428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4536" y="5490972"/>
            <a:ext cx="489204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Outras tipologias e mercados; intervalos de confiança de 80% e estimadores robustos.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5 · SIGNIFICADO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Três perguntas, três respostas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6903720" cy="1188720"/>
          </a:xfrm>
          <a:prstGeom prst="roundRect">
            <a:avLst>
              <a:gd name="adj" fmla="val 692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947672"/>
            <a:ext cx="493776" cy="493776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73352"/>
            <a:ext cx="521207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i="1" lang="pt-BR">
                <a:solidFill>
                  <a:srgbClr val="5B6775"/>
                </a:solidFill>
                <a:latin typeface="Calibri"/>
              </a:rPr>
              <a:t>A KAN supera o OLS e as MLP de profundidade semelhante?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38528"/>
            <a:ext cx="521207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Sim: R² de 0,716, contra 0,661 e 0,638.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04288"/>
            <a:ext cx="52578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A confirmar com orçamentos de parâmetros equiparados e múltiplas sementes.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848856" y="2037283"/>
            <a:ext cx="365760" cy="285293"/>
          </a:xfrm>
          <a:custGeom>
            <a:avLst/>
            <a:gdLst/>
            <a:ahLst/>
            <a:cxnLst/>
            <a:rect l="l" t="t" r="r" b="b"/>
            <a:pathLst>
              <a:path w="365760" h="285293">
                <a:moveTo>
                  <a:pt x="0" y="157277"/>
                </a:moveTo>
                <a:lnTo>
                  <a:pt x="131673" y="285293"/>
                </a:lnTo>
                <a:lnTo>
                  <a:pt x="365760" y="0"/>
                </a:lnTo>
              </a:path>
            </a:pathLst>
          </a:custGeom>
          <a:noFill/>
          <a:ln w="50800" cap="rnd">
            <a:solidFill>
              <a:srgbClr val="2E7D4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907792"/>
            <a:ext cx="6903720" cy="1188720"/>
          </a:xfrm>
          <a:prstGeom prst="roundRect">
            <a:avLst>
              <a:gd name="adj" fmla="val 692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3255264"/>
            <a:ext cx="493776" cy="493776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80944"/>
            <a:ext cx="521207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i="1" lang="pt-BR">
                <a:solidFill>
                  <a:srgbClr val="5B6775"/>
                </a:solidFill>
                <a:latin typeface="Calibri"/>
              </a:rPr>
              <a:t>A destilação simbólica preserva o desempenho da rede?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246120"/>
            <a:ext cx="521207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Em grande parte: fidelidade de 0,900 à KAN.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611880"/>
            <a:ext cx="52578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O R² passa de 0,716 para 0,665 — perda controlada, em troca da forma fechada.</a:t>
            </a:r>
          </a:p>
        </p:txBody>
      </p:sp>
      <p:sp>
        <p:nvSpPr>
          <p:cNvPr id="17" name="Freeform 16"/>
          <p:cNvSpPr/>
          <p:nvPr/>
        </p:nvSpPr>
        <p:spPr>
          <a:xfrm>
            <a:off x="6848856" y="3344875"/>
            <a:ext cx="365760" cy="285293"/>
          </a:xfrm>
          <a:custGeom>
            <a:avLst/>
            <a:gdLst/>
            <a:ahLst/>
            <a:cxnLst/>
            <a:rect l="l" t="t" r="r" b="b"/>
            <a:pathLst>
              <a:path w="365760" h="285293">
                <a:moveTo>
                  <a:pt x="0" y="157277"/>
                </a:moveTo>
                <a:lnTo>
                  <a:pt x="131673" y="285293"/>
                </a:lnTo>
                <a:lnTo>
                  <a:pt x="365760" y="0"/>
                </a:lnTo>
              </a:path>
            </a:pathLst>
          </a:custGeom>
          <a:noFill/>
          <a:ln w="50800" cap="rnd">
            <a:solidFill>
              <a:srgbClr val="2E7D4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4215384"/>
            <a:ext cx="6903720" cy="1188720"/>
          </a:xfrm>
          <a:prstGeom prst="roundRect">
            <a:avLst>
              <a:gd name="adj" fmla="val 6923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8" y="4562856"/>
            <a:ext cx="493776" cy="493776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500" b="1" lang="pt-BR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288536"/>
            <a:ext cx="5212079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300" b="0" i="1" lang="pt-BR">
                <a:solidFill>
                  <a:srgbClr val="5B6775"/>
                </a:solidFill>
                <a:latin typeface="Calibri"/>
              </a:rPr>
              <a:t>A equação destilada é não inferior ao OLS?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553712"/>
            <a:ext cx="521207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0B3658"/>
                </a:solidFill>
                <a:latin typeface="Calibri"/>
              </a:rPr>
              <a:t>Sim, na estimativa pontual: 0,665 contra 0,661.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919472"/>
            <a:ext cx="52578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sz="1300" b="0" lang="pt-BR">
                <a:solidFill>
                  <a:srgbClr val="1F2A37"/>
                </a:solidFill>
                <a:latin typeface="Calibri"/>
              </a:rPr>
              <a:t>Quatro termos, sem forma imposta — a confirmar com seleção só na validação e intervalos de confiança.</a:t>
            </a:r>
          </a:p>
        </p:txBody>
      </p:sp>
      <p:sp>
        <p:nvSpPr>
          <p:cNvPr id="23" name="Freeform 22"/>
          <p:cNvSpPr/>
          <p:nvPr/>
        </p:nvSpPr>
        <p:spPr>
          <a:xfrm>
            <a:off x="6848856" y="4652467"/>
            <a:ext cx="365760" cy="285293"/>
          </a:xfrm>
          <a:custGeom>
            <a:avLst/>
            <a:gdLst/>
            <a:ahLst/>
            <a:cxnLst/>
            <a:rect l="l" t="t" r="r" b="b"/>
            <a:pathLst>
              <a:path w="365760" h="285293">
                <a:moveTo>
                  <a:pt x="0" y="157277"/>
                </a:moveTo>
                <a:lnTo>
                  <a:pt x="131673" y="285293"/>
                </a:lnTo>
                <a:lnTo>
                  <a:pt x="365760" y="0"/>
                </a:lnTo>
              </a:path>
            </a:pathLst>
          </a:custGeom>
          <a:noFill/>
          <a:ln w="50800" cap="rnd">
            <a:solidFill>
              <a:srgbClr val="2E7D4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001000" y="4937760"/>
            <a:ext cx="3520440" cy="0"/>
          </a:xfrm>
          <a:prstGeom prst="line">
            <a:avLst/>
          </a:prstGeom>
          <a:ln w="19050">
            <a:solidFill>
              <a:srgbClr val="1F2A3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01000" y="1783080"/>
            <a:ext cx="0" cy="3154680"/>
          </a:xfrm>
          <a:prstGeom prst="line">
            <a:avLst/>
          </a:prstGeom>
          <a:ln w="19050">
            <a:solidFill>
              <a:srgbClr val="1F2A3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01000" y="4992624"/>
            <a:ext cx="3520439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transparência e auditabilidade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6245352" y="3232404"/>
            <a:ext cx="31089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capacidade de captar não linearidades</a:t>
            </a:r>
          </a:p>
        </p:txBody>
      </p:sp>
      <p:sp>
        <p:nvSpPr>
          <p:cNvPr id="28" name="Oval 27"/>
          <p:cNvSpPr/>
          <p:nvPr/>
        </p:nvSpPr>
        <p:spPr>
          <a:xfrm>
            <a:off x="8275320" y="2377440"/>
            <a:ext cx="713232" cy="713232"/>
          </a:xfrm>
          <a:prstGeom prst="ellipse">
            <a:avLst/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250" b="1" lang="pt-BR">
                <a:solidFill>
                  <a:srgbClr val="FFFFFF"/>
                </a:solidFill>
                <a:latin typeface="Calibri"/>
              </a:rPr>
              <a:t>MLP</a:t>
            </a:r>
          </a:p>
        </p:txBody>
      </p:sp>
      <p:sp>
        <p:nvSpPr>
          <p:cNvPr id="29" name="Oval 28"/>
          <p:cNvSpPr/>
          <p:nvPr/>
        </p:nvSpPr>
        <p:spPr>
          <a:xfrm>
            <a:off x="10561320" y="3950208"/>
            <a:ext cx="713232" cy="713232"/>
          </a:xfrm>
          <a:prstGeom prst="ellipse">
            <a:avLst/>
          </a:prstGeom>
          <a:solidFill>
            <a:srgbClr val="6F8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250" b="1" lang="pt-BR">
                <a:solidFill>
                  <a:srgbClr val="FFFFFF"/>
                </a:solidFill>
                <a:latin typeface="Calibri"/>
              </a:rPr>
              <a:t>OLS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0" y="1874519"/>
            <a:ext cx="749808" cy="749808"/>
          </a:xfrm>
          <a:prstGeom prst="ellipse">
            <a:avLst/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250" b="1" lang="pt-BR">
                <a:solidFill>
                  <a:srgbClr val="FFFFFF"/>
                </a:solidFill>
                <a:latin typeface="Calibri"/>
              </a:rPr>
              <a:t>KAN</a:t>
            </a:r>
          </a:p>
        </p:txBody>
      </p:sp>
      <p:sp>
        <p:nvSpPr>
          <p:cNvPr id="31" name="Oval 30"/>
          <p:cNvSpPr/>
          <p:nvPr/>
        </p:nvSpPr>
        <p:spPr>
          <a:xfrm>
            <a:off x="10332720" y="2103120"/>
            <a:ext cx="1097280" cy="1097280"/>
          </a:xfrm>
          <a:prstGeom prst="ellipse">
            <a:avLst/>
          </a:prstGeom>
          <a:solidFill>
            <a:srgbClr val="F0A81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400" b="1" lang="pt-BR">
                <a:solidFill>
                  <a:srgbClr val="0B3658"/>
                </a:solidFill>
                <a:latin typeface="Calibri"/>
              </a:rPr>
              <a:t>KAN+SR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227832"/>
            <a:ext cx="17830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300" b="0" i="1" lang="pt-BR">
                <a:solidFill>
                  <a:srgbClr val="8A5F00"/>
                </a:solidFill>
                <a:latin typeface="Calibri"/>
              </a:rPr>
              <a:t>o canto que</a:t>
            </a:r>
          </a:p>
          <a:p>
            <a:pPr algn="ctr">
              <a:buNone/>
            </a:pPr>
            <a:r>
              <a:rPr sz="1300" b="0" i="1" lang="pt-BR">
                <a:solidFill>
                  <a:srgbClr val="8A5F00"/>
                </a:solidFill>
                <a:latin typeface="Calibri"/>
              </a:rPr>
              <a:t>estava vazio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239512"/>
            <a:ext cx="3904487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050" b="0" lang="pt-BR">
                <a:solidFill>
                  <a:srgbClr val="5B6775"/>
                </a:solidFill>
                <a:latin typeface="Calibri"/>
              </a:rPr>
              <a:t>posições esquemáticas · eixo vertical: flexibilidade funcional, não R²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32120"/>
            <a:ext cx="11064240" cy="612648"/>
          </a:xfrm>
          <a:prstGeom prst="roundRect">
            <a:avLst>
              <a:gd name="adj" fmla="val 14925"/>
            </a:avLst>
          </a:prstGeom>
          <a:solidFill>
            <a:srgbClr val="0B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>
            <a:noAutofit/>
          </a:bodyPr>
          <a:lstStyle/>
          <a:p>
            <a:pPr algn="ctr">
              <a:buNone/>
            </a:pPr>
            <a:r>
              <a:rPr sz="1750" b="1" lang="pt-BR">
                <a:solidFill>
                  <a:srgbClr val="FFFFFF"/>
                </a:solidFill>
                <a:latin typeface="Calibri"/>
              </a:rPr>
              <a:t>A dicotomia entre modelo interpretável e modelo de alto desempenho pode ser superada.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3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20</a:t>
            </a:r>
          </a:p>
        </p:txBody>
      </p:sp>
      <p:sp>
        <p:nvSpPr>
          <p:cNvPr id="4" name="Mensagem final"/>
          <p:cNvSpPr txBox="1"/>
          <p:nvPr/>
        </p:nvSpPr>
        <p:spPr>
          <a:xfrm>
            <a:off x="658368" y="1645920"/>
            <a:ext cx="6766560" cy="2514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4400" b="1" lang="pt-BR">
                <a:solidFill>
                  <a:srgbClr val="0B3658"/>
                </a:solidFill>
                <a:latin typeface="Calibri"/>
              </a:rPr>
              <a:t>A rede aprende.</a:t>
            </a:r>
          </a:p>
          <a:p>
            <a:pPr algn="l">
              <a:lnSpc>
                <a:spcPct val="100000"/>
              </a:lnSpc>
              <a:buNone/>
            </a:pPr>
            <a:r>
              <a:rPr sz="4400" b="1" lang="pt-BR">
                <a:solidFill>
                  <a:srgbClr val="B8860B"/>
                </a:solidFill>
                <a:latin typeface="Calibri"/>
              </a:rPr>
              <a:t>A equação explica.</a:t>
            </a:r>
          </a:p>
          <a:p>
            <a:pPr algn="l">
              <a:lnSpc>
                <a:spcPct val="100000"/>
              </a:lnSpc>
              <a:buNone/>
            </a:pPr>
            <a:r>
              <a:rPr sz="4400" b="1" lang="pt-BR">
                <a:solidFill>
                  <a:srgbClr val="BB1F2C"/>
                </a:solidFill>
                <a:latin typeface="Calibri"/>
              </a:rPr>
              <a:t>O avaliador decide.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810512"/>
            <a:ext cx="3950208" cy="2194560"/>
          </a:xfrm>
          <a:prstGeom prst="roundRect">
            <a:avLst>
              <a:gd name="adj" fmla="val 375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947672"/>
            <a:ext cx="352044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buNone/>
            </a:pPr>
            <a:r>
              <a:rPr sz="2800" b="1" lang="pt-BR">
                <a:solidFill>
                  <a:srgbClr val="0B3658"/>
                </a:solidFill>
                <a:latin typeface="Calibri"/>
              </a:rPr>
              <a:t>Obrigado</a:t>
            </a:r>
            <a:r>
              <a:rPr sz="2200" b="0" lang="pt-BR">
                <a:solidFill>
                  <a:srgbClr val="5B6775"/>
                </a:solidFill>
                <a:latin typeface="Calibri"/>
              </a:rPr>
              <a:t>  ·  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633472"/>
            <a:ext cx="35204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700" b="1" lang="pt-BR">
                <a:solidFill>
                  <a:srgbClr val="1F2A37"/>
                </a:solidFill>
                <a:latin typeface="Calibri"/>
              </a:rPr>
              <a:t>Agnaldo Calvi Benvenho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999232"/>
            <a:ext cx="352044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50" b="0" lang="pt-BR">
                <a:solidFill>
                  <a:srgbClr val="0B3658"/>
                </a:solidFill>
                <a:latin typeface="Calibri"/>
              </a:rPr>
              <a:t>abenvenho@terra.com.br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383280"/>
            <a:ext cx="352044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IBAPE — Instituto Brasileiro de Avaliações e Perícias de Engenharia ·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26280"/>
            <a:ext cx="10881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450" b="1">
                <a:solidFill>
                  <a:srgbClr val="0B3658"/>
                </a:solidFill>
                <a:latin typeface="Calibri"/>
              </a:rPr>
              <a:t>Dados, scripts e artigo disponíveis no Kaggle: </a:t>
            </a:r>
            <a:r>
              <a:rPr sz="1450" b="0">
                <a:solidFill>
                  <a:srgbClr val="1F2A37"/>
                </a:solidFill>
                <a:latin typeface="Calibri"/>
                <a:hlinkClick r:id="rId3"/>
              </a:rPr>
              <a:t>kaggle.com/datasets/agnaldocalvibenvenho/kan-e-regresso-simblica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83480"/>
            <a:ext cx="1088136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sz="1300" b="1" lang="pt-BR">
                <a:solidFill>
                  <a:srgbClr val="5B6775"/>
                </a:solidFill>
                <a:latin typeface="Calibri"/>
              </a:rPr>
              <a:t>Uso de IA generativa, declarado em nota metodológica no artigo: </a:t>
            </a:r>
            <a:r>
              <a:rPr sz="1300" b="0" lang="pt-BR">
                <a:solidFill>
                  <a:srgbClr val="5B6775"/>
                </a:solidFill>
                <a:latin typeface="Calibri"/>
              </a:rPr>
              <a:t>apoio à revisão de texto, à pesquisa bibliográfica, à geração de imagens e à programação. Desenho experimental, modelagens, análise dos resultados e conclusões: do autor.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APOIO PARA PERGUNTAS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Apoio A — Métricas completas dos seis modelos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Métricas completas"/>
          <p:cNvGraphicFramePr>
            <a:graphicFrameLocks noGrp="1"/>
          </p:cNvGraphicFramePr>
          <p:nvPr/>
        </p:nvGraphicFramePr>
        <p:xfrm>
          <a:off x="566928" y="1691640"/>
          <a:ext cx="11064240" cy="33101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291840"/>
                <a:gridCol w="1051560"/>
                <a:gridCol w="1280160"/>
                <a:gridCol w="1051560"/>
                <a:gridCol w="960120"/>
                <a:gridCol w="960120"/>
                <a:gridCol w="1005840"/>
                <a:gridCol w="14630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R² treino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R² validação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R² teste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Parâm. / compl.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pt-BR">
                          <a:solidFill>
                            <a:srgbClr val="1F2A37"/>
                          </a:solidFill>
                          <a:latin typeface="Calibri"/>
                        </a:rPr>
                        <a:t>KAN [12 → 6 → 1]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0,729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0,702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pt-BR">
                          <a:solidFill>
                            <a:srgbClr val="1F2A37"/>
                          </a:solidFill>
                          <a:latin typeface="Calibri"/>
                        </a:rPr>
                        <a:t>0,716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0,219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0,165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16,7%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≈ 1.014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DDE7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pt-BR">
                          <a:solidFill>
                            <a:srgbClr val="1F2A37"/>
                          </a:solidFill>
                          <a:latin typeface="Calibri"/>
                        </a:rPr>
                        <a:t>KAN+SR (complexidade 19)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0,657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0,619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pt-BR">
                          <a:solidFill>
                            <a:srgbClr val="1F2A37"/>
                          </a:solidFill>
                          <a:latin typeface="Calibri"/>
                        </a:rPr>
                        <a:t>0,665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0,237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0,181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18,3%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compl. 19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DF3D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OLS Box–Cox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0,654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0,636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0,661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0,239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0,180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18,0%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11 coef.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MLP 1 camada [12 → 24 → 1]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0,632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0,608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0,638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0,247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0,189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18,5%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337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SR isolada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0,616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0,593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0,608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0,257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0,193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19,8%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compl. ≈ 90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MLP 2 camadas [12 → 24 → 12 → 1]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0,596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0,571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0,600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0,259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0,198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18,5%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625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166360"/>
            <a:ext cx="1106424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2000"/>
              </a:lnSpc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R², RMSE e MAE na escala de ln(V/m²); MAPE na escala original (R$/m²), após exponenciação. RMSE, MAE e MAPE referem-se ao conjunto de teste (n = 2.250). Semente única (42) em todos os modelos. Na tabela do artigo, a complexidade aparece como “op.”.</a:t>
            </a:r>
          </a:p>
          <a:p>
            <a:pPr algn="l">
              <a:spcBef>
                <a:spcPts val="400"/>
              </a:spcBef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A NBR 14653-2 não define limiar de R² para enquadramento: as métricas são indicadores de desempenho preditivo.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APOIO PARA PERGUNTAS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Apoio B — OLS Box–Cox: equação estimada e diagnósticos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11064240" cy="1572768"/>
          </a:xfrm>
          <a:prstGeom prst="roundRect">
            <a:avLst>
              <a:gd name="adj" fmla="val 5232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0784"/>
            <a:ext cx="10515600" cy="8686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600" b="0" lang="pt-BR">
                <a:solidFill>
                  <a:srgbClr val="1F2A37"/>
                </a:solidFill>
                <a:latin typeface="Cambria"/>
              </a:rPr>
              <a:t>ln(V/m²) = 5,0044 + 0,2909 · ln(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VT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) + 0,8654 · BC(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FO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; 1,873) − 0,2741 · 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SD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 + 0,0008 · BC(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VC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; 0,814)</a:t>
            </a:r>
          </a:p>
          <a:p>
            <a:pPr algn="l">
              <a:lnSpc>
                <a:spcPct val="110000"/>
              </a:lnSpc>
              <a:buNone/>
            </a:pPr>
            <a:r>
              <a:rPr sz="1600" b="0" lang="pt-BR">
                <a:solidFill>
                  <a:srgbClr val="1F2A37"/>
                </a:solidFill>
                <a:latin typeface="Cambria"/>
              </a:rPr>
              <a:t>+ 0,1526 · ln(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AT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) + 0,1211 · 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CEP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 − 0,0096 · BC(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NP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; 0,731) + 0,0025 · 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t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 + 0,0306 · 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FIN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 + 0,0230 · 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87752"/>
            <a:ext cx="1051560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buNone/>
            </a:pPr>
            <a:r>
              <a:rPr sz="1250" b="0" lang="pt-BR">
                <a:solidFill>
                  <a:srgbClr val="5B6775"/>
                </a:solidFill>
                <a:latin typeface="Cambria"/>
              </a:rPr>
              <a:t>BC(x; λ) = (x</a:t>
            </a:r>
            <a:r>
              <a:rPr sz="1250" b="0" lang="pt-BR" baseline="30000">
                <a:solidFill>
                  <a:srgbClr val="5B6775"/>
                </a:solidFill>
                <a:latin typeface="Cambria"/>
              </a:rPr>
              <a:t>λ</a:t>
            </a:r>
            <a:r>
              <a:rPr sz="1250" b="0" lang="pt-BR">
                <a:solidFill>
                  <a:srgbClr val="5B6775"/>
                </a:solidFill>
                <a:latin typeface="Cambria"/>
              </a:rPr>
              <a:t> − 1) ÷ λ</a:t>
            </a:r>
            <a:r>
              <a:rPr sz="1250" b="0" lang="pt-BR">
                <a:solidFill>
                  <a:srgbClr val="5B6775"/>
                </a:solidFill>
                <a:latin typeface="Calibri"/>
              </a:rPr>
              <a:t>  ·  variáveis na escala original, exceto o CEP (normalizado)  ·  NP nº de pavimentos · t mês da transação · FIN financiamento (0/1)</a:t>
            </a:r>
          </a:p>
          <a:p>
            <a:pPr algn="l">
              <a:lnSpc>
                <a:spcPct val="98000"/>
              </a:lnSpc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O Anexo B do artigo traz a forma compacta, com os termos de Box–Cox escritos como potências.</a:t>
            </a:r>
          </a:p>
        </p:txBody>
      </p:sp>
      <p:graphicFrame>
        <p:nvGraphicFramePr>
          <p:cNvPr id="9" name="Diagnósticos do OLS"/>
          <p:cNvGraphicFramePr>
            <a:graphicFrameLocks noGrp="1"/>
          </p:cNvGraphicFramePr>
          <p:nvPr/>
        </p:nvGraphicFramePr>
        <p:xfrm>
          <a:off x="566928" y="3346704"/>
          <a:ext cx="11064240" cy="242316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743200"/>
                <a:gridCol w="329184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Teste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Estatística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pt-BR">
                          <a:solidFill>
                            <a:srgbClr val="FFFFFF"/>
                          </a:solidFill>
                          <a:latin typeface="Calibri"/>
                        </a:rPr>
                        <a:t>Interpretação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Breusch–Pagan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LM = 520,7 (p ≈ 0)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Heterocedasticidade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White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LM = 1.061,8 (p ≈ 0)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Heterocedasticidade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Shapiro–Wilk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p ≈ 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Não normalidade dos resíduos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Jarque–Bera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JB = 5.640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Assimetria 0,21; curtose excedente 3,57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Durbin–Watson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1,99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Ausência de autocorrelação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VIF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&lt; 10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lang="pt-BR">
                          <a:solidFill>
                            <a:srgbClr val="1F2A37"/>
                          </a:solidFill>
                          <a:latin typeface="Calibri"/>
                        </a:rPr>
                        <a:t>Ausência de multicolinearidade relevante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0448"/>
            <a:ext cx="110642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50" b="0" lang="pt-BR">
                <a:solidFill>
                  <a:srgbClr val="5B6775"/>
                </a:solidFill>
                <a:latin typeface="Calibri"/>
              </a:rPr>
              <a:t>Dez coeficientes angulares, todos com p &lt; 0,001 — onze parâmetros com o intercepto. Seleção stepwise por AIC; λ de Box–Cox estimados só no treino.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APOIO PARA PERGUNTAS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Apoio C — KAN+SR: normalização e domínio de aplicação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23</a:t>
            </a:r>
          </a:p>
        </p:txBody>
      </p:sp>
      <p:graphicFrame>
        <p:nvGraphicFramePr>
          <p:cNvPr id="6" name="Parâmetros de normalização"/>
          <p:cNvGraphicFramePr>
            <a:graphicFrameLocks noGrp="1"/>
          </p:cNvGraphicFramePr>
          <p:nvPr/>
        </p:nvGraphicFramePr>
        <p:xfrm>
          <a:off x="566928" y="1691640"/>
          <a:ext cx="6309360" cy="318211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/>
                <a:gridCol w="3200400"/>
                <a:gridCol w="1234440"/>
                <a:gridCol w="123444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>Variável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>Mínimo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lang="pt-BR">
                          <a:solidFill>
                            <a:srgbClr val="FFFFFF"/>
                          </a:solidFill>
                          <a:latin typeface="Calibri"/>
                        </a:rPr>
                        <a:t>Amplitude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B3658"/>
                      </a:solidFill>
                    </a:lnB>
                    <a:solidFill>
                      <a:srgbClr val="0B365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VT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valor do m² de terreno (R$/m²)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25.914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VC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valor do m² de construção (R$/m²)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1.291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2.499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AT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área do terreno (m²)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233.314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FO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fator de obsolescência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0,79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PC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padrão construtivo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1" lang="pt-BR">
                          <a:solidFill>
                            <a:srgbClr val="1F2A37"/>
                          </a:solidFill>
                          <a:latin typeface="Cambria"/>
                        </a:rPr>
                        <a:t>SD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indício de subdeclaração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binária (0/1)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pt-BR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BD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29200"/>
            <a:ext cx="630936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600" b="0" lang="pt-BR" baseline="-25000">
                <a:solidFill>
                  <a:srgbClr val="1F2A37"/>
                </a:solidFill>
                <a:latin typeface="Cambria"/>
              </a:rPr>
              <a:t>norm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 = ( </a:t>
            </a:r>
            <a:r>
              <a:rPr sz="1600" b="0" i="1" lang="pt-BR">
                <a:solidFill>
                  <a:srgbClr val="1F2A37"/>
                </a:solidFill>
                <a:latin typeface="Cambria"/>
              </a:rPr>
              <a:t>x</a:t>
            </a:r>
            <a:r>
              <a:rPr sz="1600" b="0" lang="pt-BR">
                <a:solidFill>
                  <a:srgbClr val="1F2A37"/>
                </a:solidFill>
                <a:latin typeface="Cambria"/>
              </a:rPr>
              <a:t> − mínimo ) ÷ amplitude</a:t>
            </a:r>
          </a:p>
          <a:p>
            <a:pPr algn="l">
              <a:spcBef>
                <a:spcPts val="400"/>
              </a:spcBef>
              <a:buNone/>
            </a:pPr>
            <a:r>
              <a:rPr sz="1300" b="0" lang="pt-BR">
                <a:solidFill>
                  <a:srgbClr val="5B6775"/>
                </a:solidFill>
                <a:latin typeface="Calibri"/>
              </a:rPr>
              <a:t>parâmetros do conjunto de treino (Tabela A.1 do artigo)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453128" cy="13716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01368"/>
            <a:ext cx="399592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Domínio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148840"/>
            <a:ext cx="4041648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Aplicar a equação apenas dentro do domínio de treino das variáveis.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182112"/>
            <a:ext cx="4453128" cy="13716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291840"/>
            <a:ext cx="399592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Verificação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639312"/>
            <a:ext cx="4041648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Antes do uso em laudo, conferir monotonicidade e estabilidade de cada termo no intervalo observado.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4672583"/>
            <a:ext cx="4453128" cy="1371600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782312"/>
            <a:ext cx="3995928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600" b="1" lang="pt-BR">
                <a:solidFill>
                  <a:srgbClr val="0B3658"/>
                </a:solidFill>
                <a:latin typeface="Calibri"/>
              </a:rPr>
              <a:t>Leitura do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129783"/>
            <a:ext cx="4041648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 lang="pt-BR">
                <a:solidFill>
                  <a:srgbClr val="1F2A37"/>
                </a:solidFill>
                <a:latin typeface="Calibri"/>
              </a:rPr>
              <a:t>R² = 0,665 é estimativa pontual: a expressão foi escolhida com inspeção do conjunto de teste.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2148840" y="301752"/>
            <a:ext cx="9464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buNone/>
            </a:pPr>
            <a:r>
              <a:rPr sz="1200" b="1" lang="pt-BR" spc="140">
                <a:solidFill>
                  <a:srgbClr val="BB1F2C"/>
                </a:solidFill>
                <a:latin typeface="Calibri"/>
              </a:rPr>
              <a:t>APOIO PARA PERGUNTAS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2148840" y="548640"/>
            <a:ext cx="9464040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2000"/>
              </a:lnSpc>
              <a:buNone/>
            </a:pPr>
            <a:r>
              <a:rPr sz="3000" b="1" lang="pt-BR">
                <a:solidFill>
                  <a:srgbClr val="0B3658"/>
                </a:solidFill>
                <a:latin typeface="Calibri"/>
              </a:rPr>
              <a:t>Apoio D — Resíduos × valores previstos: os seis modelos</a:t>
            </a:r>
          </a:p>
        </p:txBody>
      </p:sp>
      <p:sp>
        <p:nvSpPr>
          <p:cNvPr id="4" name="Rodapé"/>
          <p:cNvSpPr txBox="1"/>
          <p:nvPr/>
        </p:nvSpPr>
        <p:spPr>
          <a:xfrm>
            <a:off x="8366760" y="6336792"/>
            <a:ext cx="2743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000" b="0" lang="pt-BR">
                <a:solidFill>
                  <a:srgbClr val="5B6775"/>
                </a:solidFill>
                <a:latin typeface="Calibri"/>
              </a:rPr>
              <a:t>Modelagem híbrida KAN+SR</a:t>
            </a:r>
          </a:p>
        </p:txBody>
      </p:sp>
      <p:sp>
        <p:nvSpPr>
          <p:cNvPr id="5" name="Número do slide"/>
          <p:cNvSpPr txBox="1"/>
          <p:nvPr/>
        </p:nvSpPr>
        <p:spPr>
          <a:xfrm>
            <a:off x="11173968" y="6336792"/>
            <a:ext cx="45720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buNone/>
            </a:pPr>
            <a:r>
              <a:rPr sz="1100" b="1" lang="pt-BR">
                <a:solidFill>
                  <a:srgbClr val="0B3658"/>
                </a:solidFill>
                <a:latin typeface="Calibri"/>
              </a:rPr>
              <a:t>24</a:t>
            </a:r>
          </a:p>
        </p:txBody>
      </p:sp>
      <p:pic>
        <p:nvPicPr>
          <p:cNvPr id="6" name="Resíduos × previstos — seis modelos" descr="Seis gráficos de resíduos em função do valor previsto (conjunto de teste), com a tendência média por faixa em vermelh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463040"/>
            <a:ext cx="10424160" cy="44798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943600"/>
            <a:ext cx="11064240" cy="2468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buNone/>
            </a:pPr>
            <a:r>
              <a:rPr sz="1200" b="0" lang="pt-BR">
                <a:solidFill>
                  <a:srgbClr val="5B6775"/>
                </a:solidFill>
                <a:latin typeface="Calibri"/>
              </a:rPr>
              <a:t>Conjunto de teste (n = 2.250). Linha vermelha: média dos resíduos por faixa de valor previsto.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híbrida para avaliação de imóveis com redes neurais Kolmogorov–Arnold e regressão simbólica</dc:title>
  <dc:creator>Agnaldo Calvi Benvenho</dc:creator>
  <cp:lastModifiedBy>Mermi Celati Cano</cp:lastModifiedBy>
  <cp:revision>6</cp:revision>
  <dcterms:created xsi:type="dcterms:W3CDTF">2026-07-28T14:03:44Z</dcterms:created>
  <dcterms:modified xsi:type="dcterms:W3CDTF">2026-08-24T02:18:24Z</dcterms:modified>
  <dc:subject>XL Congresso UPAV 2026 — Madrid — Concurso de Ponencias Técnicas</dc:subject>
</cp:coreProperties>
</file>